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371475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4" name="Shape 4"/>
          <p:cNvSpPr/>
          <p:nvPr/>
        </p:nvSpPr>
        <p:spPr>
          <a:xfrm>
            <a:off x="0" y="485775"/>
            <a:ext cx="12192000" cy="28575"/>
          </a:xfrm>
          <a:prstGeom prst="rect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239375" y="11430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n-US" sz="1200" b="1">
                <a:solidFill>
                  <a:srgbClr val="FFFFFF"/>
                </a:solidFill>
                <a:latin typeface="Aptos"/>
              </a:rPr>
              <a:t>Joy N12326836</a:t>
            </a:r>
          </a:p>
        </p:txBody>
      </p:sp>
      <p:sp>
        <p:nvSpPr>
          <p:cNvPr id="6" name="Shape 6"/>
          <p:cNvSpPr/>
          <p:nvPr/>
        </p:nvSpPr>
        <p:spPr>
          <a:xfrm>
            <a:off x="8858250" y="60960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" name="Shape 7"/>
          <p:cNvSpPr/>
          <p:nvPr/>
        </p:nvSpPr>
        <p:spPr>
          <a:xfrm>
            <a:off x="9039225" y="60960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8" name="Shape 8"/>
          <p:cNvSpPr/>
          <p:nvPr/>
        </p:nvSpPr>
        <p:spPr>
          <a:xfrm>
            <a:off x="9220200" y="60960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9" name="Shape 9"/>
          <p:cNvSpPr/>
          <p:nvPr/>
        </p:nvSpPr>
        <p:spPr>
          <a:xfrm>
            <a:off x="9401175" y="60960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0" name="Shape 10"/>
          <p:cNvSpPr/>
          <p:nvPr/>
        </p:nvSpPr>
        <p:spPr>
          <a:xfrm>
            <a:off x="9582150" y="60960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1" name="Shape 11"/>
          <p:cNvSpPr/>
          <p:nvPr/>
        </p:nvSpPr>
        <p:spPr>
          <a:xfrm>
            <a:off x="9763125" y="60960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2" name="Shape 12"/>
          <p:cNvSpPr/>
          <p:nvPr/>
        </p:nvSpPr>
        <p:spPr>
          <a:xfrm>
            <a:off x="9944100" y="60960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3" name="Shape 13"/>
          <p:cNvSpPr/>
          <p:nvPr/>
        </p:nvSpPr>
        <p:spPr>
          <a:xfrm>
            <a:off x="10125075" y="60960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4" name="Shape 14"/>
          <p:cNvSpPr/>
          <p:nvPr/>
        </p:nvSpPr>
        <p:spPr>
          <a:xfrm>
            <a:off x="10306050" y="60960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5" name="Shape 15"/>
          <p:cNvSpPr/>
          <p:nvPr/>
        </p:nvSpPr>
        <p:spPr>
          <a:xfrm>
            <a:off x="10487025" y="60960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6" name="Shape 16"/>
          <p:cNvSpPr/>
          <p:nvPr/>
        </p:nvSpPr>
        <p:spPr>
          <a:xfrm>
            <a:off x="10668000" y="60960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7" name="Shape 17"/>
          <p:cNvSpPr/>
          <p:nvPr/>
        </p:nvSpPr>
        <p:spPr>
          <a:xfrm>
            <a:off x="1084897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8" name="Shape 18"/>
          <p:cNvSpPr/>
          <p:nvPr/>
        </p:nvSpPr>
        <p:spPr>
          <a:xfrm>
            <a:off x="11029950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9" name="Shape 19"/>
          <p:cNvSpPr/>
          <p:nvPr/>
        </p:nvSpPr>
        <p:spPr>
          <a:xfrm>
            <a:off x="1121092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0" name="Shape 20"/>
          <p:cNvSpPr/>
          <p:nvPr/>
        </p:nvSpPr>
        <p:spPr>
          <a:xfrm>
            <a:off x="11391900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1" name="Shape 21"/>
          <p:cNvSpPr/>
          <p:nvPr/>
        </p:nvSpPr>
        <p:spPr>
          <a:xfrm>
            <a:off x="1157287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2" name="Shape 22"/>
          <p:cNvSpPr/>
          <p:nvPr/>
        </p:nvSpPr>
        <p:spPr>
          <a:xfrm>
            <a:off x="11753850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3" name="Shape 23"/>
          <p:cNvSpPr/>
          <p:nvPr/>
        </p:nvSpPr>
        <p:spPr>
          <a:xfrm>
            <a:off x="1193482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4" name="Shape 24"/>
          <p:cNvSpPr/>
          <p:nvPr/>
        </p:nvSpPr>
        <p:spPr>
          <a:xfrm>
            <a:off x="8858250" y="81915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5" name="Shape 25"/>
          <p:cNvSpPr/>
          <p:nvPr/>
        </p:nvSpPr>
        <p:spPr>
          <a:xfrm>
            <a:off x="9039225" y="81915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6" name="Shape 26"/>
          <p:cNvSpPr/>
          <p:nvPr/>
        </p:nvSpPr>
        <p:spPr>
          <a:xfrm>
            <a:off x="9220200" y="81915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7" name="Shape 27"/>
          <p:cNvSpPr/>
          <p:nvPr/>
        </p:nvSpPr>
        <p:spPr>
          <a:xfrm>
            <a:off x="9401175" y="81915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8" name="Shape 28"/>
          <p:cNvSpPr/>
          <p:nvPr/>
        </p:nvSpPr>
        <p:spPr>
          <a:xfrm>
            <a:off x="9582150" y="81915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9" name="Shape 29"/>
          <p:cNvSpPr/>
          <p:nvPr/>
        </p:nvSpPr>
        <p:spPr>
          <a:xfrm>
            <a:off x="9763125" y="81915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0" name="Shape 30"/>
          <p:cNvSpPr/>
          <p:nvPr/>
        </p:nvSpPr>
        <p:spPr>
          <a:xfrm>
            <a:off x="9944100" y="81915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1" name="Shape 31"/>
          <p:cNvSpPr/>
          <p:nvPr/>
        </p:nvSpPr>
        <p:spPr>
          <a:xfrm>
            <a:off x="10125075" y="81915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2" name="Shape 32"/>
          <p:cNvSpPr/>
          <p:nvPr/>
        </p:nvSpPr>
        <p:spPr>
          <a:xfrm>
            <a:off x="10306050" y="81915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3" name="Shape 33"/>
          <p:cNvSpPr/>
          <p:nvPr/>
        </p:nvSpPr>
        <p:spPr>
          <a:xfrm>
            <a:off x="10487025" y="81915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4" name="Shape 34"/>
          <p:cNvSpPr/>
          <p:nvPr/>
        </p:nvSpPr>
        <p:spPr>
          <a:xfrm>
            <a:off x="10668000" y="81915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5" name="Shape 35"/>
          <p:cNvSpPr/>
          <p:nvPr/>
        </p:nvSpPr>
        <p:spPr>
          <a:xfrm>
            <a:off x="1084897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6" name="Shape 36"/>
          <p:cNvSpPr/>
          <p:nvPr/>
        </p:nvSpPr>
        <p:spPr>
          <a:xfrm>
            <a:off x="11029950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7" name="Shape 37"/>
          <p:cNvSpPr/>
          <p:nvPr/>
        </p:nvSpPr>
        <p:spPr>
          <a:xfrm>
            <a:off x="1121092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8" name="Shape 38"/>
          <p:cNvSpPr/>
          <p:nvPr/>
        </p:nvSpPr>
        <p:spPr>
          <a:xfrm>
            <a:off x="11391900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9" name="Shape 39"/>
          <p:cNvSpPr/>
          <p:nvPr/>
        </p:nvSpPr>
        <p:spPr>
          <a:xfrm>
            <a:off x="1157287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0" name="Shape 40"/>
          <p:cNvSpPr/>
          <p:nvPr/>
        </p:nvSpPr>
        <p:spPr>
          <a:xfrm>
            <a:off x="11753850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1" name="Shape 41"/>
          <p:cNvSpPr/>
          <p:nvPr/>
        </p:nvSpPr>
        <p:spPr>
          <a:xfrm>
            <a:off x="1193482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2" name="Shape 42"/>
          <p:cNvSpPr/>
          <p:nvPr/>
        </p:nvSpPr>
        <p:spPr>
          <a:xfrm>
            <a:off x="8858250" y="102870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3" name="Shape 43"/>
          <p:cNvSpPr/>
          <p:nvPr/>
        </p:nvSpPr>
        <p:spPr>
          <a:xfrm>
            <a:off x="9039225" y="102870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4" name="Shape 44"/>
          <p:cNvSpPr/>
          <p:nvPr/>
        </p:nvSpPr>
        <p:spPr>
          <a:xfrm>
            <a:off x="9220200" y="102870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5" name="Shape 45"/>
          <p:cNvSpPr/>
          <p:nvPr/>
        </p:nvSpPr>
        <p:spPr>
          <a:xfrm>
            <a:off x="9401175" y="102870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6" name="Shape 46"/>
          <p:cNvSpPr/>
          <p:nvPr/>
        </p:nvSpPr>
        <p:spPr>
          <a:xfrm>
            <a:off x="9582150" y="102870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7" name="Shape 47"/>
          <p:cNvSpPr/>
          <p:nvPr/>
        </p:nvSpPr>
        <p:spPr>
          <a:xfrm>
            <a:off x="9763125" y="102870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8" name="Shape 48"/>
          <p:cNvSpPr/>
          <p:nvPr/>
        </p:nvSpPr>
        <p:spPr>
          <a:xfrm>
            <a:off x="9944100" y="102870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9" name="Shape 49"/>
          <p:cNvSpPr/>
          <p:nvPr/>
        </p:nvSpPr>
        <p:spPr>
          <a:xfrm>
            <a:off x="10125075" y="102870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0" name="Shape 50"/>
          <p:cNvSpPr/>
          <p:nvPr/>
        </p:nvSpPr>
        <p:spPr>
          <a:xfrm>
            <a:off x="10306050" y="102870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1" name="Shape 51"/>
          <p:cNvSpPr/>
          <p:nvPr/>
        </p:nvSpPr>
        <p:spPr>
          <a:xfrm>
            <a:off x="10487025" y="102870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2" name="Shape 52"/>
          <p:cNvSpPr/>
          <p:nvPr/>
        </p:nvSpPr>
        <p:spPr>
          <a:xfrm>
            <a:off x="10668000" y="102870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3" name="Shape 53"/>
          <p:cNvSpPr/>
          <p:nvPr/>
        </p:nvSpPr>
        <p:spPr>
          <a:xfrm>
            <a:off x="1084897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4" name="Shape 54"/>
          <p:cNvSpPr/>
          <p:nvPr/>
        </p:nvSpPr>
        <p:spPr>
          <a:xfrm>
            <a:off x="11029950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5" name="Shape 55"/>
          <p:cNvSpPr/>
          <p:nvPr/>
        </p:nvSpPr>
        <p:spPr>
          <a:xfrm>
            <a:off x="1121092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6" name="Shape 56"/>
          <p:cNvSpPr/>
          <p:nvPr/>
        </p:nvSpPr>
        <p:spPr>
          <a:xfrm>
            <a:off x="11391900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7" name="Shape 57"/>
          <p:cNvSpPr/>
          <p:nvPr/>
        </p:nvSpPr>
        <p:spPr>
          <a:xfrm>
            <a:off x="1157287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8" name="Shape 58"/>
          <p:cNvSpPr/>
          <p:nvPr/>
        </p:nvSpPr>
        <p:spPr>
          <a:xfrm>
            <a:off x="11753850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9" name="Shape 59"/>
          <p:cNvSpPr/>
          <p:nvPr/>
        </p:nvSpPr>
        <p:spPr>
          <a:xfrm>
            <a:off x="1193482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0" name="Shape 60"/>
          <p:cNvSpPr/>
          <p:nvPr/>
        </p:nvSpPr>
        <p:spPr>
          <a:xfrm>
            <a:off x="8858250" y="123825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1" name="Shape 61"/>
          <p:cNvSpPr/>
          <p:nvPr/>
        </p:nvSpPr>
        <p:spPr>
          <a:xfrm>
            <a:off x="9039225" y="123825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2" name="Shape 62"/>
          <p:cNvSpPr/>
          <p:nvPr/>
        </p:nvSpPr>
        <p:spPr>
          <a:xfrm>
            <a:off x="9220200" y="123825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3" name="Shape 63"/>
          <p:cNvSpPr/>
          <p:nvPr/>
        </p:nvSpPr>
        <p:spPr>
          <a:xfrm>
            <a:off x="9401175" y="123825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4" name="Shape 64"/>
          <p:cNvSpPr/>
          <p:nvPr/>
        </p:nvSpPr>
        <p:spPr>
          <a:xfrm>
            <a:off x="9582150" y="123825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5" name="Shape 65"/>
          <p:cNvSpPr/>
          <p:nvPr/>
        </p:nvSpPr>
        <p:spPr>
          <a:xfrm>
            <a:off x="9763125" y="123825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6" name="Shape 66"/>
          <p:cNvSpPr/>
          <p:nvPr/>
        </p:nvSpPr>
        <p:spPr>
          <a:xfrm>
            <a:off x="9944100" y="123825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7" name="Shape 67"/>
          <p:cNvSpPr/>
          <p:nvPr/>
        </p:nvSpPr>
        <p:spPr>
          <a:xfrm>
            <a:off x="10125075" y="123825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8" name="Shape 68"/>
          <p:cNvSpPr/>
          <p:nvPr/>
        </p:nvSpPr>
        <p:spPr>
          <a:xfrm>
            <a:off x="10306050" y="123825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9" name="Shape 69"/>
          <p:cNvSpPr/>
          <p:nvPr/>
        </p:nvSpPr>
        <p:spPr>
          <a:xfrm>
            <a:off x="10487025" y="123825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0" name="Shape 70"/>
          <p:cNvSpPr/>
          <p:nvPr/>
        </p:nvSpPr>
        <p:spPr>
          <a:xfrm>
            <a:off x="10668000" y="123825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1" name="Shape 71"/>
          <p:cNvSpPr/>
          <p:nvPr/>
        </p:nvSpPr>
        <p:spPr>
          <a:xfrm>
            <a:off x="1084897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2" name="Shape 72"/>
          <p:cNvSpPr/>
          <p:nvPr/>
        </p:nvSpPr>
        <p:spPr>
          <a:xfrm>
            <a:off x="11029950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3" name="Shape 73"/>
          <p:cNvSpPr/>
          <p:nvPr/>
        </p:nvSpPr>
        <p:spPr>
          <a:xfrm>
            <a:off x="1121092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4" name="Shape 74"/>
          <p:cNvSpPr/>
          <p:nvPr/>
        </p:nvSpPr>
        <p:spPr>
          <a:xfrm>
            <a:off x="11391900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5" name="Shape 75"/>
          <p:cNvSpPr/>
          <p:nvPr/>
        </p:nvSpPr>
        <p:spPr>
          <a:xfrm>
            <a:off x="1157287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6" name="Shape 76"/>
          <p:cNvSpPr/>
          <p:nvPr/>
        </p:nvSpPr>
        <p:spPr>
          <a:xfrm>
            <a:off x="11753850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7" name="Shape 77"/>
          <p:cNvSpPr/>
          <p:nvPr/>
        </p:nvSpPr>
        <p:spPr>
          <a:xfrm>
            <a:off x="1193482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8" name="Text 78"/>
          <p:cNvSpPr txBox="1"/>
          <p:nvPr/>
        </p:nvSpPr>
        <p:spPr>
          <a:xfrm>
            <a:off x="228600" y="838200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3400" b="1">
                <a:solidFill>
                  <a:srgbClr val="003E9B"/>
                </a:solidFill>
                <a:latin typeface="Aptos Display"/>
              </a:rPr>
              <a:t>User Authentication Workflow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266700" y="13716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5F6B7A"/>
                </a:solidFill>
                <a:latin typeface="Aptos"/>
              </a:rPr>
              <a:t>From login form to protected API access</a:t>
            </a:r>
          </a:p>
        </p:txBody>
      </p:sp>
      <p:sp>
        <p:nvSpPr>
          <p:cNvPr id="80" name="Shape 80"/>
          <p:cNvSpPr/>
          <p:nvPr/>
        </p:nvSpPr>
        <p:spPr>
          <a:xfrm>
            <a:off x="0" y="2000250"/>
            <a:ext cx="12192000" cy="9525"/>
          </a:xfrm>
          <a:prstGeom prst="rect">
            <a:avLst/>
          </a:prstGeom>
          <a:solidFill>
            <a:srgbClr val="AEB6C2"/>
          </a:solidFill>
          <a:ln w="0">
            <a:noFill/>
          </a:ln>
        </p:spPr>
      </p:sp>
      <p:sp>
        <p:nvSpPr>
          <p:cNvPr id="81" name="Text 81"/>
          <p:cNvSpPr txBox="1"/>
          <p:nvPr/>
        </p:nvSpPr>
        <p:spPr>
          <a:xfrm>
            <a:off x="781050" y="2286000"/>
            <a:ext cx="1524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03E9B"/>
                </a:solidFill>
                <a:latin typeface="Aptos"/>
              </a:rPr>
              <a:t>System flow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2381250" y="22669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5F6B7A"/>
                </a:solidFill>
                <a:latin typeface="Aptos"/>
              </a:rPr>
              <a:t>The frontend never talks to the database directly. It sends credentials to Laravel, receives a secure cookie, then calls protected routes with that cookie attached.</a:t>
            </a:r>
          </a:p>
        </p:txBody>
      </p:sp>
      <p:sp>
        <p:nvSpPr>
          <p:cNvPr id="83" name="Shape 83"/>
          <p:cNvSpPr/>
          <p:nvPr/>
        </p:nvSpPr>
        <p:spPr>
          <a:xfrm>
            <a:off x="685800" y="3048000"/>
            <a:ext cx="1600200" cy="990600"/>
          </a:xfrm>
          <a:prstGeom prst="rect">
            <a:avLst/>
          </a:prstGeom>
          <a:solidFill>
            <a:srgbClr val="F4FAFE"/>
          </a:solidFill>
          <a:ln w="12700">
            <a:solidFill>
              <a:srgbClr val="BFEFFF"/>
            </a:solidFill>
          </a:ln>
        </p:spPr>
      </p:sp>
      <p:sp>
        <p:nvSpPr>
          <p:cNvPr id="84" name="Shape 84"/>
          <p:cNvSpPr/>
          <p:nvPr/>
        </p:nvSpPr>
        <p:spPr>
          <a:xfrm>
            <a:off x="685800" y="3048000"/>
            <a:ext cx="1600200" cy="76200"/>
          </a:xfrm>
          <a:prstGeom prst="rect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85" name="Shape 85"/>
          <p:cNvSpPr/>
          <p:nvPr/>
        </p:nvSpPr>
        <p:spPr>
          <a:xfrm>
            <a:off x="819150" y="3286125"/>
            <a:ext cx="323850" cy="323850"/>
          </a:xfrm>
          <a:prstGeom prst="ellipse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86" name="Text 86"/>
          <p:cNvSpPr txBox="1"/>
          <p:nvPr/>
        </p:nvSpPr>
        <p:spPr>
          <a:xfrm>
            <a:off x="819150" y="3352800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1257300" y="3267075"/>
            <a:ext cx="91440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500" b="1">
                <a:solidFill>
                  <a:srgbClr val="003E9B"/>
                </a:solidFill>
                <a:latin typeface="Aptos"/>
              </a:rPr>
              <a:t>Login Page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857250" y="3609975"/>
            <a:ext cx="125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>
                <a:solidFill>
                  <a:srgbClr val="5F6B7A"/>
                </a:solidFill>
                <a:latin typeface="Aptos"/>
              </a:rPr>
              <a:t>/login renders React form</a:t>
            </a:r>
          </a:p>
        </p:txBody>
      </p:sp>
      <p:sp>
        <p:nvSpPr>
          <p:cNvPr id="89" name="Shape 89"/>
          <p:cNvSpPr/>
          <p:nvPr/>
        </p:nvSpPr>
        <p:spPr>
          <a:xfrm>
            <a:off x="2333625" y="3524250"/>
            <a:ext cx="190500" cy="19050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90" name="Text 90"/>
          <p:cNvSpPr txBox="1"/>
          <p:nvPr/>
        </p:nvSpPr>
        <p:spPr>
          <a:xfrm>
            <a:off x="2457450" y="342900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003E9B"/>
                </a:solidFill>
                <a:latin typeface="Aptos"/>
              </a:rPr>
              <a:t>&gt;</a:t>
            </a:r>
          </a:p>
        </p:txBody>
      </p:sp>
      <p:sp>
        <p:nvSpPr>
          <p:cNvPr id="91" name="Shape 91"/>
          <p:cNvSpPr/>
          <p:nvPr/>
        </p:nvSpPr>
        <p:spPr>
          <a:xfrm>
            <a:off x="2552700" y="3048000"/>
            <a:ext cx="1600200" cy="990600"/>
          </a:xfrm>
          <a:prstGeom prst="rect">
            <a:avLst/>
          </a:prstGeom>
          <a:solidFill>
            <a:srgbClr val="F4FAFE"/>
          </a:solidFill>
          <a:ln w="12700">
            <a:solidFill>
              <a:srgbClr val="BFEFFF"/>
            </a:solidFill>
          </a:ln>
        </p:spPr>
      </p:sp>
      <p:sp>
        <p:nvSpPr>
          <p:cNvPr id="92" name="Shape 92"/>
          <p:cNvSpPr/>
          <p:nvPr/>
        </p:nvSpPr>
        <p:spPr>
          <a:xfrm>
            <a:off x="2552700" y="3048000"/>
            <a:ext cx="1600200" cy="76200"/>
          </a:xfrm>
          <a:prstGeom prst="rect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93" name="Shape 93"/>
          <p:cNvSpPr/>
          <p:nvPr/>
        </p:nvSpPr>
        <p:spPr>
          <a:xfrm>
            <a:off x="2686050" y="3286125"/>
            <a:ext cx="323850" cy="323850"/>
          </a:xfrm>
          <a:prstGeom prst="ellipse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94" name="Text 94"/>
          <p:cNvSpPr txBox="1"/>
          <p:nvPr/>
        </p:nvSpPr>
        <p:spPr>
          <a:xfrm>
            <a:off x="2686050" y="3352800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3124200" y="3267075"/>
            <a:ext cx="91440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500" b="1">
                <a:solidFill>
                  <a:srgbClr val="003E9B"/>
                </a:solidFill>
                <a:latin typeface="Aptos"/>
              </a:rPr>
              <a:t>Submit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2724150" y="3609975"/>
            <a:ext cx="125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>
                <a:solidFill>
                  <a:srgbClr val="5F6B7A"/>
                </a:solidFill>
                <a:latin typeface="Aptos"/>
              </a:rPr>
              <a:t>POST email + password</a:t>
            </a:r>
          </a:p>
        </p:txBody>
      </p:sp>
      <p:sp>
        <p:nvSpPr>
          <p:cNvPr id="97" name="Shape 97"/>
          <p:cNvSpPr/>
          <p:nvPr/>
        </p:nvSpPr>
        <p:spPr>
          <a:xfrm>
            <a:off x="4200525" y="3524250"/>
            <a:ext cx="190500" cy="19050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98" name="Text 98"/>
          <p:cNvSpPr txBox="1"/>
          <p:nvPr/>
        </p:nvSpPr>
        <p:spPr>
          <a:xfrm>
            <a:off x="4324350" y="342900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003E9B"/>
                </a:solidFill>
                <a:latin typeface="Aptos"/>
              </a:rPr>
              <a:t>&gt;</a:t>
            </a:r>
          </a:p>
        </p:txBody>
      </p:sp>
      <p:sp>
        <p:nvSpPr>
          <p:cNvPr id="99" name="Shape 99"/>
          <p:cNvSpPr/>
          <p:nvPr/>
        </p:nvSpPr>
        <p:spPr>
          <a:xfrm>
            <a:off x="4419600" y="3048000"/>
            <a:ext cx="1600200" cy="990600"/>
          </a:xfrm>
          <a:prstGeom prst="rect">
            <a:avLst/>
          </a:prstGeom>
          <a:solidFill>
            <a:srgbClr val="F4FAFE"/>
          </a:solidFill>
          <a:ln w="12700">
            <a:solidFill>
              <a:srgbClr val="BFEFFF"/>
            </a:solidFill>
          </a:ln>
        </p:spPr>
      </p:sp>
      <p:sp>
        <p:nvSpPr>
          <p:cNvPr id="100" name="Shape 100"/>
          <p:cNvSpPr/>
          <p:nvPr/>
        </p:nvSpPr>
        <p:spPr>
          <a:xfrm>
            <a:off x="4419600" y="3048000"/>
            <a:ext cx="1600200" cy="76200"/>
          </a:xfrm>
          <a:prstGeom prst="rect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01" name="Shape 101"/>
          <p:cNvSpPr/>
          <p:nvPr/>
        </p:nvSpPr>
        <p:spPr>
          <a:xfrm>
            <a:off x="4552950" y="3286125"/>
            <a:ext cx="323850" cy="323850"/>
          </a:xfrm>
          <a:prstGeom prst="ellipse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102" name="Text 102"/>
          <p:cNvSpPr txBox="1"/>
          <p:nvPr/>
        </p:nvSpPr>
        <p:spPr>
          <a:xfrm>
            <a:off x="4552950" y="3352800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4991100" y="3267075"/>
            <a:ext cx="91440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500" b="1">
                <a:solidFill>
                  <a:srgbClr val="003E9B"/>
                </a:solidFill>
                <a:latin typeface="Aptos"/>
              </a:rPr>
              <a:t>API Route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4591050" y="3609975"/>
            <a:ext cx="125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>
                <a:solidFill>
                  <a:srgbClr val="5F6B7A"/>
                </a:solidFill>
                <a:latin typeface="Aptos"/>
              </a:rPr>
              <a:t>/api/login maps request</a:t>
            </a:r>
          </a:p>
        </p:txBody>
      </p:sp>
      <p:sp>
        <p:nvSpPr>
          <p:cNvPr id="105" name="Shape 105"/>
          <p:cNvSpPr/>
          <p:nvPr/>
        </p:nvSpPr>
        <p:spPr>
          <a:xfrm>
            <a:off x="6067425" y="3524250"/>
            <a:ext cx="190500" cy="19050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106" name="Text 106"/>
          <p:cNvSpPr txBox="1"/>
          <p:nvPr/>
        </p:nvSpPr>
        <p:spPr>
          <a:xfrm>
            <a:off x="6191250" y="342900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003E9B"/>
                </a:solidFill>
                <a:latin typeface="Aptos"/>
              </a:rPr>
              <a:t>&gt;</a:t>
            </a:r>
          </a:p>
        </p:txBody>
      </p:sp>
      <p:sp>
        <p:nvSpPr>
          <p:cNvPr id="107" name="Shape 107"/>
          <p:cNvSpPr/>
          <p:nvPr/>
        </p:nvSpPr>
        <p:spPr>
          <a:xfrm>
            <a:off x="6286500" y="3048000"/>
            <a:ext cx="1600200" cy="990600"/>
          </a:xfrm>
          <a:prstGeom prst="rect">
            <a:avLst/>
          </a:prstGeom>
          <a:solidFill>
            <a:srgbClr val="F4FAFE"/>
          </a:solidFill>
          <a:ln w="12700">
            <a:solidFill>
              <a:srgbClr val="BFEFFF"/>
            </a:solidFill>
          </a:ln>
        </p:spPr>
      </p:sp>
      <p:sp>
        <p:nvSpPr>
          <p:cNvPr id="108" name="Shape 108"/>
          <p:cNvSpPr/>
          <p:nvPr/>
        </p:nvSpPr>
        <p:spPr>
          <a:xfrm>
            <a:off x="6286500" y="3048000"/>
            <a:ext cx="1600200" cy="76200"/>
          </a:xfrm>
          <a:prstGeom prst="rect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09" name="Shape 109"/>
          <p:cNvSpPr/>
          <p:nvPr/>
        </p:nvSpPr>
        <p:spPr>
          <a:xfrm>
            <a:off x="6419850" y="3286125"/>
            <a:ext cx="323850" cy="323850"/>
          </a:xfrm>
          <a:prstGeom prst="ellipse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110" name="Text 110"/>
          <p:cNvSpPr txBox="1"/>
          <p:nvPr/>
        </p:nvSpPr>
        <p:spPr>
          <a:xfrm>
            <a:off x="6419850" y="3352800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6858000" y="3267075"/>
            <a:ext cx="91440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500" b="1">
                <a:solidFill>
                  <a:srgbClr val="003E9B"/>
                </a:solidFill>
                <a:latin typeface="Aptos"/>
              </a:rPr>
              <a:t>Controller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57950" y="3609975"/>
            <a:ext cx="125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>
                <a:solidFill>
                  <a:srgbClr val="5F6B7A"/>
                </a:solidFill>
                <a:latin typeface="Aptos"/>
              </a:rPr>
              <a:t>Auth guard checks user</a:t>
            </a:r>
          </a:p>
        </p:txBody>
      </p:sp>
      <p:sp>
        <p:nvSpPr>
          <p:cNvPr id="113" name="Shape 113"/>
          <p:cNvSpPr/>
          <p:nvPr/>
        </p:nvSpPr>
        <p:spPr>
          <a:xfrm>
            <a:off x="7934325" y="3524250"/>
            <a:ext cx="190500" cy="19050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114" name="Text 114"/>
          <p:cNvSpPr txBox="1"/>
          <p:nvPr/>
        </p:nvSpPr>
        <p:spPr>
          <a:xfrm>
            <a:off x="8058150" y="342900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003E9B"/>
                </a:solidFill>
                <a:latin typeface="Aptos"/>
              </a:rPr>
              <a:t>&gt;</a:t>
            </a:r>
          </a:p>
        </p:txBody>
      </p:sp>
      <p:sp>
        <p:nvSpPr>
          <p:cNvPr id="115" name="Shape 115"/>
          <p:cNvSpPr/>
          <p:nvPr/>
        </p:nvSpPr>
        <p:spPr>
          <a:xfrm>
            <a:off x="8153400" y="3048000"/>
            <a:ext cx="1600200" cy="990600"/>
          </a:xfrm>
          <a:prstGeom prst="rect">
            <a:avLst/>
          </a:prstGeom>
          <a:solidFill>
            <a:srgbClr val="F4FAFE"/>
          </a:solidFill>
          <a:ln w="12700">
            <a:solidFill>
              <a:srgbClr val="BFEFFF"/>
            </a:solidFill>
          </a:ln>
        </p:spPr>
      </p:sp>
      <p:sp>
        <p:nvSpPr>
          <p:cNvPr id="116" name="Shape 116"/>
          <p:cNvSpPr/>
          <p:nvPr/>
        </p:nvSpPr>
        <p:spPr>
          <a:xfrm>
            <a:off x="8153400" y="3048000"/>
            <a:ext cx="1600200" cy="76200"/>
          </a:xfrm>
          <a:prstGeom prst="rect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17" name="Shape 117"/>
          <p:cNvSpPr/>
          <p:nvPr/>
        </p:nvSpPr>
        <p:spPr>
          <a:xfrm>
            <a:off x="8286750" y="3286125"/>
            <a:ext cx="323850" cy="323850"/>
          </a:xfrm>
          <a:prstGeom prst="ellipse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118" name="Text 118"/>
          <p:cNvSpPr txBox="1"/>
          <p:nvPr/>
        </p:nvSpPr>
        <p:spPr>
          <a:xfrm>
            <a:off x="8286750" y="3352800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8724900" y="3267075"/>
            <a:ext cx="91440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500" b="1">
                <a:solidFill>
                  <a:srgbClr val="003E9B"/>
                </a:solidFill>
                <a:latin typeface="Aptos"/>
              </a:rPr>
              <a:t>JWT Cookie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8324850" y="3609975"/>
            <a:ext cx="125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>
                <a:solidFill>
                  <a:srgbClr val="5F6B7A"/>
                </a:solidFill>
                <a:latin typeface="Aptos"/>
              </a:rPr>
              <a:t>access_token is HttpOnly</a:t>
            </a:r>
          </a:p>
        </p:txBody>
      </p:sp>
      <p:sp>
        <p:nvSpPr>
          <p:cNvPr id="121" name="Shape 121"/>
          <p:cNvSpPr/>
          <p:nvPr/>
        </p:nvSpPr>
        <p:spPr>
          <a:xfrm>
            <a:off x="9801225" y="3524250"/>
            <a:ext cx="190500" cy="19050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122" name="Text 122"/>
          <p:cNvSpPr txBox="1"/>
          <p:nvPr/>
        </p:nvSpPr>
        <p:spPr>
          <a:xfrm>
            <a:off x="9925050" y="342900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003E9B"/>
                </a:solidFill>
                <a:latin typeface="Aptos"/>
              </a:rPr>
              <a:t>&gt;</a:t>
            </a:r>
          </a:p>
        </p:txBody>
      </p:sp>
      <p:sp>
        <p:nvSpPr>
          <p:cNvPr id="123" name="Shape 123"/>
          <p:cNvSpPr/>
          <p:nvPr/>
        </p:nvSpPr>
        <p:spPr>
          <a:xfrm>
            <a:off x="10020300" y="3048000"/>
            <a:ext cx="1600200" cy="990600"/>
          </a:xfrm>
          <a:prstGeom prst="rect">
            <a:avLst/>
          </a:prstGeom>
          <a:solidFill>
            <a:srgbClr val="F4FAFE"/>
          </a:solidFill>
          <a:ln w="12700">
            <a:solidFill>
              <a:srgbClr val="BFEFFF"/>
            </a:solidFill>
          </a:ln>
        </p:spPr>
      </p:sp>
      <p:sp>
        <p:nvSpPr>
          <p:cNvPr id="124" name="Shape 124"/>
          <p:cNvSpPr/>
          <p:nvPr/>
        </p:nvSpPr>
        <p:spPr>
          <a:xfrm>
            <a:off x="10020300" y="3048000"/>
            <a:ext cx="1600200" cy="76200"/>
          </a:xfrm>
          <a:prstGeom prst="rect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25" name="Shape 125"/>
          <p:cNvSpPr/>
          <p:nvPr/>
        </p:nvSpPr>
        <p:spPr>
          <a:xfrm>
            <a:off x="10153650" y="3286125"/>
            <a:ext cx="323850" cy="323850"/>
          </a:xfrm>
          <a:prstGeom prst="ellipse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126" name="Text 126"/>
          <p:cNvSpPr txBox="1"/>
          <p:nvPr/>
        </p:nvSpPr>
        <p:spPr>
          <a:xfrm>
            <a:off x="10153650" y="3352800"/>
            <a:ext cx="32385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10591800" y="3267075"/>
            <a:ext cx="91440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500" b="1">
                <a:solidFill>
                  <a:srgbClr val="003E9B"/>
                </a:solidFill>
                <a:latin typeface="Aptos"/>
              </a:rPr>
              <a:t>Protected API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10191750" y="3609975"/>
            <a:ext cx="125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>
                <a:solidFill>
                  <a:srgbClr val="5F6B7A"/>
                </a:solidFill>
                <a:latin typeface="Aptos"/>
              </a:rPr>
              <a:t>jwt.auth validates token</a:t>
            </a:r>
          </a:p>
        </p:txBody>
      </p:sp>
      <p:sp>
        <p:nvSpPr>
          <p:cNvPr id="129" name="Shape 129"/>
          <p:cNvSpPr/>
          <p:nvPr/>
        </p:nvSpPr>
        <p:spPr>
          <a:xfrm>
            <a:off x="1600200" y="4591050"/>
            <a:ext cx="8953500" cy="9525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</p:sp>
      <p:sp>
        <p:nvSpPr>
          <p:cNvPr id="130" name="Text 130"/>
          <p:cNvSpPr txBox="1"/>
          <p:nvPr/>
        </p:nvSpPr>
        <p:spPr>
          <a:xfrm>
            <a:off x="1733550" y="4876800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100" b="1">
                <a:solidFill>
                  <a:srgbClr val="003E9B"/>
                </a:solidFill>
                <a:latin typeface="Aptos"/>
              </a:rPr>
              <a:t>Key idea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2686050" y="482917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ptos"/>
              </a:rPr>
              <a:t>JWT identifies the user; HttpOnly cookie carries it safely; middleware bridges cookie-based browser auth into Bearer-token validation.</a:t>
            </a:r>
          </a:p>
        </p:txBody>
      </p:sp>
      <p:sp>
        <p:nvSpPr>
          <p:cNvPr id="132" name="Shape 132"/>
          <p:cNvSpPr/>
          <p:nvPr/>
        </p:nvSpPr>
        <p:spPr>
          <a:xfrm>
            <a:off x="0" y="6610350"/>
            <a:ext cx="12192000" cy="57150"/>
          </a:xfrm>
          <a:prstGeom prst="rect">
            <a:avLst/>
          </a:prstGeom>
          <a:solidFill>
            <a:srgbClr val="E7E9ED"/>
          </a:solidFill>
          <a:ln w="0">
            <a:noFill/>
          </a:ln>
        </p:spPr>
      </p:sp>
      <p:pic>
        <p:nvPicPr>
          <p:cNvPr id="133" name="System logo" descr="Strategic Planning Management Syste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6096000"/>
            <a:ext cx="419100" cy="419100"/>
          </a:xfrm>
          <a:prstGeom prst="rect">
            <a:avLst/>
          </a:prstGeom>
        </p:spPr>
      </p:pic>
      <p:sp>
        <p:nvSpPr>
          <p:cNvPr id="134" name="Text 134"/>
          <p:cNvSpPr txBox="1"/>
          <p:nvPr/>
        </p:nvSpPr>
        <p:spPr>
          <a:xfrm>
            <a:off x="781050" y="61626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00" b="1">
                <a:solidFill>
                  <a:srgbClr val="111827"/>
                </a:solidFill>
                <a:latin typeface="Aptos"/>
              </a:rPr>
              <a:t>Strategic Planning Management System</a:t>
            </a:r>
          </a:p>
          <a:p>
            <a:pPr algn="l"/>
            <a:r>
              <a:rPr lang="en-US" sz="900" b="1">
                <a:solidFill>
                  <a:srgbClr val="111827"/>
                </a:solidFill>
                <a:latin typeface="Aptos"/>
              </a:rPr>
              <a:t>Authentication flow overview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8667750" y="6200775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n-US" sz="1300" b="1">
                <a:solidFill>
                  <a:srgbClr val="003E9B"/>
                </a:solidFill>
                <a:latin typeface="Aptos"/>
              </a:rPr>
              <a:t>Frontend + Connection +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371475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4" name="Shape 4"/>
          <p:cNvSpPr/>
          <p:nvPr/>
        </p:nvSpPr>
        <p:spPr>
          <a:xfrm>
            <a:off x="0" y="485775"/>
            <a:ext cx="12192000" cy="28575"/>
          </a:xfrm>
          <a:prstGeom prst="rect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10239375" y="11430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n-US" sz="1200" b="1">
                <a:solidFill>
                  <a:srgbClr val="FFFFFF"/>
                </a:solidFill>
                <a:latin typeface="Aptos"/>
              </a:rPr>
              <a:t>Joy N12326836</a:t>
            </a:r>
          </a:p>
        </p:txBody>
      </p:sp>
      <p:sp>
        <p:nvSpPr>
          <p:cNvPr id="6" name="Shape 6"/>
          <p:cNvSpPr/>
          <p:nvPr/>
        </p:nvSpPr>
        <p:spPr>
          <a:xfrm>
            <a:off x="8858250" y="60960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" name="Shape 7"/>
          <p:cNvSpPr/>
          <p:nvPr/>
        </p:nvSpPr>
        <p:spPr>
          <a:xfrm>
            <a:off x="9039225" y="60960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8" name="Shape 8"/>
          <p:cNvSpPr/>
          <p:nvPr/>
        </p:nvSpPr>
        <p:spPr>
          <a:xfrm>
            <a:off x="9220200" y="60960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9" name="Shape 9"/>
          <p:cNvSpPr/>
          <p:nvPr/>
        </p:nvSpPr>
        <p:spPr>
          <a:xfrm>
            <a:off x="9401175" y="60960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0" name="Shape 10"/>
          <p:cNvSpPr/>
          <p:nvPr/>
        </p:nvSpPr>
        <p:spPr>
          <a:xfrm>
            <a:off x="9582150" y="60960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1" name="Shape 11"/>
          <p:cNvSpPr/>
          <p:nvPr/>
        </p:nvSpPr>
        <p:spPr>
          <a:xfrm>
            <a:off x="9763125" y="60960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2" name="Shape 12"/>
          <p:cNvSpPr/>
          <p:nvPr/>
        </p:nvSpPr>
        <p:spPr>
          <a:xfrm>
            <a:off x="9944100" y="60960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3" name="Shape 13"/>
          <p:cNvSpPr/>
          <p:nvPr/>
        </p:nvSpPr>
        <p:spPr>
          <a:xfrm>
            <a:off x="10125075" y="60960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4" name="Shape 14"/>
          <p:cNvSpPr/>
          <p:nvPr/>
        </p:nvSpPr>
        <p:spPr>
          <a:xfrm>
            <a:off x="10306050" y="60960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5" name="Shape 15"/>
          <p:cNvSpPr/>
          <p:nvPr/>
        </p:nvSpPr>
        <p:spPr>
          <a:xfrm>
            <a:off x="10487025" y="60960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6" name="Shape 16"/>
          <p:cNvSpPr/>
          <p:nvPr/>
        </p:nvSpPr>
        <p:spPr>
          <a:xfrm>
            <a:off x="10668000" y="60960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7" name="Shape 17"/>
          <p:cNvSpPr/>
          <p:nvPr/>
        </p:nvSpPr>
        <p:spPr>
          <a:xfrm>
            <a:off x="1084897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8" name="Shape 18"/>
          <p:cNvSpPr/>
          <p:nvPr/>
        </p:nvSpPr>
        <p:spPr>
          <a:xfrm>
            <a:off x="11029950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9" name="Shape 19"/>
          <p:cNvSpPr/>
          <p:nvPr/>
        </p:nvSpPr>
        <p:spPr>
          <a:xfrm>
            <a:off x="1121092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0" name="Shape 20"/>
          <p:cNvSpPr/>
          <p:nvPr/>
        </p:nvSpPr>
        <p:spPr>
          <a:xfrm>
            <a:off x="11391900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1" name="Shape 21"/>
          <p:cNvSpPr/>
          <p:nvPr/>
        </p:nvSpPr>
        <p:spPr>
          <a:xfrm>
            <a:off x="1157287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2" name="Shape 22"/>
          <p:cNvSpPr/>
          <p:nvPr/>
        </p:nvSpPr>
        <p:spPr>
          <a:xfrm>
            <a:off x="11753850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3" name="Shape 23"/>
          <p:cNvSpPr/>
          <p:nvPr/>
        </p:nvSpPr>
        <p:spPr>
          <a:xfrm>
            <a:off x="1193482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4" name="Shape 24"/>
          <p:cNvSpPr/>
          <p:nvPr/>
        </p:nvSpPr>
        <p:spPr>
          <a:xfrm>
            <a:off x="8858250" y="81915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5" name="Shape 25"/>
          <p:cNvSpPr/>
          <p:nvPr/>
        </p:nvSpPr>
        <p:spPr>
          <a:xfrm>
            <a:off x="9039225" y="81915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6" name="Shape 26"/>
          <p:cNvSpPr/>
          <p:nvPr/>
        </p:nvSpPr>
        <p:spPr>
          <a:xfrm>
            <a:off x="9220200" y="81915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7" name="Shape 27"/>
          <p:cNvSpPr/>
          <p:nvPr/>
        </p:nvSpPr>
        <p:spPr>
          <a:xfrm>
            <a:off x="9401175" y="81915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8" name="Shape 28"/>
          <p:cNvSpPr/>
          <p:nvPr/>
        </p:nvSpPr>
        <p:spPr>
          <a:xfrm>
            <a:off x="9582150" y="81915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9" name="Shape 29"/>
          <p:cNvSpPr/>
          <p:nvPr/>
        </p:nvSpPr>
        <p:spPr>
          <a:xfrm>
            <a:off x="9763125" y="81915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0" name="Shape 30"/>
          <p:cNvSpPr/>
          <p:nvPr/>
        </p:nvSpPr>
        <p:spPr>
          <a:xfrm>
            <a:off x="9944100" y="81915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1" name="Shape 31"/>
          <p:cNvSpPr/>
          <p:nvPr/>
        </p:nvSpPr>
        <p:spPr>
          <a:xfrm>
            <a:off x="10125075" y="81915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2" name="Shape 32"/>
          <p:cNvSpPr/>
          <p:nvPr/>
        </p:nvSpPr>
        <p:spPr>
          <a:xfrm>
            <a:off x="10306050" y="81915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3" name="Shape 33"/>
          <p:cNvSpPr/>
          <p:nvPr/>
        </p:nvSpPr>
        <p:spPr>
          <a:xfrm>
            <a:off x="10487025" y="81915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4" name="Shape 34"/>
          <p:cNvSpPr/>
          <p:nvPr/>
        </p:nvSpPr>
        <p:spPr>
          <a:xfrm>
            <a:off x="10668000" y="81915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5" name="Shape 35"/>
          <p:cNvSpPr/>
          <p:nvPr/>
        </p:nvSpPr>
        <p:spPr>
          <a:xfrm>
            <a:off x="1084897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6" name="Shape 36"/>
          <p:cNvSpPr/>
          <p:nvPr/>
        </p:nvSpPr>
        <p:spPr>
          <a:xfrm>
            <a:off x="11029950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7" name="Shape 37"/>
          <p:cNvSpPr/>
          <p:nvPr/>
        </p:nvSpPr>
        <p:spPr>
          <a:xfrm>
            <a:off x="1121092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8" name="Shape 38"/>
          <p:cNvSpPr/>
          <p:nvPr/>
        </p:nvSpPr>
        <p:spPr>
          <a:xfrm>
            <a:off x="11391900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9" name="Shape 39"/>
          <p:cNvSpPr/>
          <p:nvPr/>
        </p:nvSpPr>
        <p:spPr>
          <a:xfrm>
            <a:off x="1157287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0" name="Shape 40"/>
          <p:cNvSpPr/>
          <p:nvPr/>
        </p:nvSpPr>
        <p:spPr>
          <a:xfrm>
            <a:off x="11753850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1" name="Shape 41"/>
          <p:cNvSpPr/>
          <p:nvPr/>
        </p:nvSpPr>
        <p:spPr>
          <a:xfrm>
            <a:off x="1193482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2" name="Shape 42"/>
          <p:cNvSpPr/>
          <p:nvPr/>
        </p:nvSpPr>
        <p:spPr>
          <a:xfrm>
            <a:off x="8858250" y="102870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3" name="Shape 43"/>
          <p:cNvSpPr/>
          <p:nvPr/>
        </p:nvSpPr>
        <p:spPr>
          <a:xfrm>
            <a:off x="9039225" y="102870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4" name="Shape 44"/>
          <p:cNvSpPr/>
          <p:nvPr/>
        </p:nvSpPr>
        <p:spPr>
          <a:xfrm>
            <a:off x="9220200" y="102870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5" name="Shape 45"/>
          <p:cNvSpPr/>
          <p:nvPr/>
        </p:nvSpPr>
        <p:spPr>
          <a:xfrm>
            <a:off x="9401175" y="102870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6" name="Shape 46"/>
          <p:cNvSpPr/>
          <p:nvPr/>
        </p:nvSpPr>
        <p:spPr>
          <a:xfrm>
            <a:off x="9582150" y="102870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7" name="Shape 47"/>
          <p:cNvSpPr/>
          <p:nvPr/>
        </p:nvSpPr>
        <p:spPr>
          <a:xfrm>
            <a:off x="9763125" y="102870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8" name="Shape 48"/>
          <p:cNvSpPr/>
          <p:nvPr/>
        </p:nvSpPr>
        <p:spPr>
          <a:xfrm>
            <a:off x="9944100" y="102870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9" name="Shape 49"/>
          <p:cNvSpPr/>
          <p:nvPr/>
        </p:nvSpPr>
        <p:spPr>
          <a:xfrm>
            <a:off x="10125075" y="102870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0" name="Shape 50"/>
          <p:cNvSpPr/>
          <p:nvPr/>
        </p:nvSpPr>
        <p:spPr>
          <a:xfrm>
            <a:off x="10306050" y="102870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1" name="Shape 51"/>
          <p:cNvSpPr/>
          <p:nvPr/>
        </p:nvSpPr>
        <p:spPr>
          <a:xfrm>
            <a:off x="10487025" y="102870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2" name="Shape 52"/>
          <p:cNvSpPr/>
          <p:nvPr/>
        </p:nvSpPr>
        <p:spPr>
          <a:xfrm>
            <a:off x="10668000" y="102870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3" name="Shape 53"/>
          <p:cNvSpPr/>
          <p:nvPr/>
        </p:nvSpPr>
        <p:spPr>
          <a:xfrm>
            <a:off x="1084897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4" name="Shape 54"/>
          <p:cNvSpPr/>
          <p:nvPr/>
        </p:nvSpPr>
        <p:spPr>
          <a:xfrm>
            <a:off x="11029950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5" name="Shape 55"/>
          <p:cNvSpPr/>
          <p:nvPr/>
        </p:nvSpPr>
        <p:spPr>
          <a:xfrm>
            <a:off x="1121092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6" name="Shape 56"/>
          <p:cNvSpPr/>
          <p:nvPr/>
        </p:nvSpPr>
        <p:spPr>
          <a:xfrm>
            <a:off x="11391900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7" name="Shape 57"/>
          <p:cNvSpPr/>
          <p:nvPr/>
        </p:nvSpPr>
        <p:spPr>
          <a:xfrm>
            <a:off x="1157287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8" name="Shape 58"/>
          <p:cNvSpPr/>
          <p:nvPr/>
        </p:nvSpPr>
        <p:spPr>
          <a:xfrm>
            <a:off x="11753850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9" name="Shape 59"/>
          <p:cNvSpPr/>
          <p:nvPr/>
        </p:nvSpPr>
        <p:spPr>
          <a:xfrm>
            <a:off x="1193482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0" name="Shape 60"/>
          <p:cNvSpPr/>
          <p:nvPr/>
        </p:nvSpPr>
        <p:spPr>
          <a:xfrm>
            <a:off x="8858250" y="123825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1" name="Shape 61"/>
          <p:cNvSpPr/>
          <p:nvPr/>
        </p:nvSpPr>
        <p:spPr>
          <a:xfrm>
            <a:off x="9039225" y="123825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2" name="Shape 62"/>
          <p:cNvSpPr/>
          <p:nvPr/>
        </p:nvSpPr>
        <p:spPr>
          <a:xfrm>
            <a:off x="9220200" y="123825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3" name="Shape 63"/>
          <p:cNvSpPr/>
          <p:nvPr/>
        </p:nvSpPr>
        <p:spPr>
          <a:xfrm>
            <a:off x="9401175" y="123825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4" name="Shape 64"/>
          <p:cNvSpPr/>
          <p:nvPr/>
        </p:nvSpPr>
        <p:spPr>
          <a:xfrm>
            <a:off x="9582150" y="123825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5" name="Shape 65"/>
          <p:cNvSpPr/>
          <p:nvPr/>
        </p:nvSpPr>
        <p:spPr>
          <a:xfrm>
            <a:off x="9763125" y="123825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6" name="Shape 66"/>
          <p:cNvSpPr/>
          <p:nvPr/>
        </p:nvSpPr>
        <p:spPr>
          <a:xfrm>
            <a:off x="9944100" y="123825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7" name="Shape 67"/>
          <p:cNvSpPr/>
          <p:nvPr/>
        </p:nvSpPr>
        <p:spPr>
          <a:xfrm>
            <a:off x="10125075" y="123825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8" name="Shape 68"/>
          <p:cNvSpPr/>
          <p:nvPr/>
        </p:nvSpPr>
        <p:spPr>
          <a:xfrm>
            <a:off x="10306050" y="123825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9" name="Shape 69"/>
          <p:cNvSpPr/>
          <p:nvPr/>
        </p:nvSpPr>
        <p:spPr>
          <a:xfrm>
            <a:off x="10487025" y="123825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0" name="Shape 70"/>
          <p:cNvSpPr/>
          <p:nvPr/>
        </p:nvSpPr>
        <p:spPr>
          <a:xfrm>
            <a:off x="10668000" y="123825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1" name="Shape 71"/>
          <p:cNvSpPr/>
          <p:nvPr/>
        </p:nvSpPr>
        <p:spPr>
          <a:xfrm>
            <a:off x="1084897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2" name="Shape 72"/>
          <p:cNvSpPr/>
          <p:nvPr/>
        </p:nvSpPr>
        <p:spPr>
          <a:xfrm>
            <a:off x="11029950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3" name="Shape 73"/>
          <p:cNvSpPr/>
          <p:nvPr/>
        </p:nvSpPr>
        <p:spPr>
          <a:xfrm>
            <a:off x="1121092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4" name="Shape 74"/>
          <p:cNvSpPr/>
          <p:nvPr/>
        </p:nvSpPr>
        <p:spPr>
          <a:xfrm>
            <a:off x="11391900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5" name="Shape 75"/>
          <p:cNvSpPr/>
          <p:nvPr/>
        </p:nvSpPr>
        <p:spPr>
          <a:xfrm>
            <a:off x="1157287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6" name="Shape 76"/>
          <p:cNvSpPr/>
          <p:nvPr/>
        </p:nvSpPr>
        <p:spPr>
          <a:xfrm>
            <a:off x="11753850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7" name="Shape 77"/>
          <p:cNvSpPr/>
          <p:nvPr/>
        </p:nvSpPr>
        <p:spPr>
          <a:xfrm>
            <a:off x="1193482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8" name="Text 78"/>
          <p:cNvSpPr txBox="1"/>
          <p:nvPr/>
        </p:nvSpPr>
        <p:spPr>
          <a:xfrm>
            <a:off x="228600" y="838200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3400" b="1">
                <a:solidFill>
                  <a:srgbClr val="003E9B"/>
                </a:solidFill>
                <a:latin typeface="Aptos Display"/>
              </a:rPr>
              <a:t>Frontend, connection layer, backend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266700" y="1381125"/>
            <a:ext cx="800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300">
                <a:solidFill>
                  <a:srgbClr val="5F6B7A"/>
                </a:solidFill>
                <a:latin typeface="Aptos"/>
              </a:rPr>
              <a:t>Authentication is a handoff: UI captures credentials, HTTP carries state, Laravel validates and protects resources.</a:t>
            </a:r>
          </a:p>
        </p:txBody>
      </p:sp>
      <p:sp>
        <p:nvSpPr>
          <p:cNvPr id="80" name="Shape 80"/>
          <p:cNvSpPr/>
          <p:nvPr/>
        </p:nvSpPr>
        <p:spPr>
          <a:xfrm>
            <a:off x="0" y="2000250"/>
            <a:ext cx="12192000" cy="9525"/>
          </a:xfrm>
          <a:prstGeom prst="rect">
            <a:avLst/>
          </a:prstGeom>
          <a:solidFill>
            <a:srgbClr val="AEB6C2"/>
          </a:solidFill>
          <a:ln w="0">
            <a:noFill/>
          </a:ln>
        </p:spPr>
      </p:sp>
      <p:sp>
        <p:nvSpPr>
          <p:cNvPr id="81" name="Shape 81"/>
          <p:cNvSpPr/>
          <p:nvPr/>
        </p:nvSpPr>
        <p:spPr>
          <a:xfrm>
            <a:off x="666750" y="2400300"/>
            <a:ext cx="3048000" cy="2952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</p:spPr>
      </p:sp>
      <p:sp>
        <p:nvSpPr>
          <p:cNvPr id="82" name="Shape 82"/>
          <p:cNvSpPr/>
          <p:nvPr/>
        </p:nvSpPr>
        <p:spPr>
          <a:xfrm>
            <a:off x="666750" y="2400300"/>
            <a:ext cx="3048000" cy="85725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83" name="Text 83"/>
          <p:cNvSpPr txBox="1"/>
          <p:nvPr/>
        </p:nvSpPr>
        <p:spPr>
          <a:xfrm>
            <a:off x="876300" y="2647950"/>
            <a:ext cx="26289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03E9B"/>
                </a:solidFill>
                <a:latin typeface="Aptos"/>
              </a:rPr>
              <a:t>FRONTEND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876300" y="2952750"/>
            <a:ext cx="26289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900" b="1">
                <a:solidFill>
                  <a:srgbClr val="111827"/>
                </a:solidFill>
                <a:latin typeface="Aptos Display"/>
              </a:rPr>
              <a:t>Collect credentials and keep the token unreadable.</a:t>
            </a:r>
          </a:p>
        </p:txBody>
      </p:sp>
      <p:sp>
        <p:nvSpPr>
          <p:cNvPr id="85" name="Shape 85"/>
          <p:cNvSpPr/>
          <p:nvPr/>
        </p:nvSpPr>
        <p:spPr>
          <a:xfrm>
            <a:off x="876300" y="3648075"/>
            <a:ext cx="171450" cy="171450"/>
          </a:xfrm>
          <a:prstGeom prst="ellipse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86" name="Text 86"/>
          <p:cNvSpPr txBox="1"/>
          <p:nvPr/>
        </p:nvSpPr>
        <p:spPr>
          <a:xfrm>
            <a:off x="876300" y="3676650"/>
            <a:ext cx="171450" cy="1143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1162050" y="3600450"/>
            <a:ext cx="23431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003E9B"/>
                </a:solidFill>
                <a:latin typeface="Aptos"/>
              </a:rPr>
              <a:t>Blade + React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1162050" y="3781425"/>
            <a:ext cx="23241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5F6B7A"/>
                </a:solidFill>
                <a:latin typeface="Aptos"/>
              </a:rPr>
              <a:t>login.blade.php loads login-app.js</a:t>
            </a:r>
          </a:p>
        </p:txBody>
      </p:sp>
      <p:sp>
        <p:nvSpPr>
          <p:cNvPr id="89" name="Shape 89"/>
          <p:cNvSpPr/>
          <p:nvPr/>
        </p:nvSpPr>
        <p:spPr>
          <a:xfrm>
            <a:off x="876300" y="4162425"/>
            <a:ext cx="171450" cy="171450"/>
          </a:xfrm>
          <a:prstGeom prst="ellipse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90" name="Text 90"/>
          <p:cNvSpPr txBox="1"/>
          <p:nvPr/>
        </p:nvSpPr>
        <p:spPr>
          <a:xfrm>
            <a:off x="876300" y="4191000"/>
            <a:ext cx="171450" cy="1143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1162050" y="4114800"/>
            <a:ext cx="23431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003E9B"/>
                </a:solidFill>
                <a:latin typeface="Aptos"/>
              </a:rPr>
              <a:t>POST /api/login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162050" y="4295775"/>
            <a:ext cx="23241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5F6B7A"/>
                </a:solidFill>
                <a:latin typeface="Aptos"/>
              </a:rPr>
              <a:t>email and password sent as JSON</a:t>
            </a:r>
          </a:p>
        </p:txBody>
      </p:sp>
      <p:sp>
        <p:nvSpPr>
          <p:cNvPr id="93" name="Shape 93"/>
          <p:cNvSpPr/>
          <p:nvPr/>
        </p:nvSpPr>
        <p:spPr>
          <a:xfrm>
            <a:off x="876300" y="4676775"/>
            <a:ext cx="171450" cy="171450"/>
          </a:xfrm>
          <a:prstGeom prst="ellipse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94" name="Text 94"/>
          <p:cNvSpPr txBox="1"/>
          <p:nvPr/>
        </p:nvSpPr>
        <p:spPr>
          <a:xfrm>
            <a:off x="876300" y="4705350"/>
            <a:ext cx="171450" cy="1143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1162050" y="4629150"/>
            <a:ext cx="23431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003E9B"/>
                </a:solidFill>
                <a:latin typeface="Aptos"/>
              </a:rPr>
              <a:t>credentials: include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1162050" y="4810125"/>
            <a:ext cx="23241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5F6B7A"/>
                </a:solidFill>
                <a:latin typeface="Aptos"/>
              </a:rPr>
              <a:t>browser accepts and later sends cookie</a:t>
            </a:r>
          </a:p>
        </p:txBody>
      </p:sp>
      <p:sp>
        <p:nvSpPr>
          <p:cNvPr id="97" name="Shape 97"/>
          <p:cNvSpPr/>
          <p:nvPr/>
        </p:nvSpPr>
        <p:spPr>
          <a:xfrm>
            <a:off x="3943350" y="3752850"/>
            <a:ext cx="590550" cy="19050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98" name="Text 98"/>
          <p:cNvSpPr txBox="1"/>
          <p:nvPr/>
        </p:nvSpPr>
        <p:spPr>
          <a:xfrm>
            <a:off x="4457700" y="365760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003E9B"/>
                </a:solidFill>
                <a:latin typeface="Aptos"/>
              </a:rPr>
              <a:t>&gt;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3829050" y="3867150"/>
            <a:ext cx="8763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00">
                <a:solidFill>
                  <a:srgbClr val="5F6B7A"/>
                </a:solidFill>
                <a:latin typeface="Aptos"/>
              </a:rPr>
              <a:t>HTTP JSON</a:t>
            </a:r>
          </a:p>
        </p:txBody>
      </p:sp>
      <p:sp>
        <p:nvSpPr>
          <p:cNvPr id="100" name="Shape 100"/>
          <p:cNvSpPr/>
          <p:nvPr/>
        </p:nvSpPr>
        <p:spPr>
          <a:xfrm>
            <a:off x="4591050" y="2400300"/>
            <a:ext cx="3048000" cy="2952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</p:spPr>
      </p:sp>
      <p:sp>
        <p:nvSpPr>
          <p:cNvPr id="101" name="Shape 101"/>
          <p:cNvSpPr/>
          <p:nvPr/>
        </p:nvSpPr>
        <p:spPr>
          <a:xfrm>
            <a:off x="4591050" y="2400300"/>
            <a:ext cx="3048000" cy="85725"/>
          </a:xfrm>
          <a:prstGeom prst="rect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02" name="Text 102"/>
          <p:cNvSpPr txBox="1"/>
          <p:nvPr/>
        </p:nvSpPr>
        <p:spPr>
          <a:xfrm>
            <a:off x="4800600" y="2647950"/>
            <a:ext cx="26289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27BFEF"/>
                </a:solidFill>
                <a:latin typeface="Aptos"/>
              </a:rPr>
              <a:t>CONNECTION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4800600" y="2952750"/>
            <a:ext cx="26289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900" b="1">
                <a:solidFill>
                  <a:srgbClr val="111827"/>
                </a:solidFill>
                <a:latin typeface="Aptos Display"/>
              </a:rPr>
              <a:t>Routes and middleware bridge browser cookies into JWT auth.</a:t>
            </a:r>
          </a:p>
        </p:txBody>
      </p:sp>
      <p:sp>
        <p:nvSpPr>
          <p:cNvPr id="104" name="Shape 104"/>
          <p:cNvSpPr/>
          <p:nvPr/>
        </p:nvSpPr>
        <p:spPr>
          <a:xfrm>
            <a:off x="4800600" y="3648075"/>
            <a:ext cx="171450" cy="17145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05" name="Text 105"/>
          <p:cNvSpPr txBox="1"/>
          <p:nvPr/>
        </p:nvSpPr>
        <p:spPr>
          <a:xfrm>
            <a:off x="4800600" y="3676650"/>
            <a:ext cx="171450" cy="1143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086350" y="3600450"/>
            <a:ext cx="23431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003E9B"/>
                </a:solidFill>
                <a:latin typeface="Aptos"/>
              </a:rPr>
              <a:t>API route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086350" y="3781425"/>
            <a:ext cx="23241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5F6B7A"/>
                </a:solidFill>
                <a:latin typeface="Aptos"/>
              </a:rPr>
              <a:t>routes/api.php maps request to controller</a:t>
            </a:r>
          </a:p>
        </p:txBody>
      </p:sp>
      <p:sp>
        <p:nvSpPr>
          <p:cNvPr id="108" name="Shape 108"/>
          <p:cNvSpPr/>
          <p:nvPr/>
        </p:nvSpPr>
        <p:spPr>
          <a:xfrm>
            <a:off x="4800600" y="4162425"/>
            <a:ext cx="171450" cy="17145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09" name="Text 109"/>
          <p:cNvSpPr txBox="1"/>
          <p:nvPr/>
        </p:nvSpPr>
        <p:spPr>
          <a:xfrm>
            <a:off x="4800600" y="4191000"/>
            <a:ext cx="171450" cy="1143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086350" y="4114800"/>
            <a:ext cx="23431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003E9B"/>
                </a:solidFill>
                <a:latin typeface="Aptos"/>
              </a:rPr>
              <a:t>Set-Cookie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086350" y="4295775"/>
            <a:ext cx="23241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5F6B7A"/>
                </a:solidFill>
                <a:latin typeface="Aptos"/>
              </a:rPr>
              <a:t>AuthController returns access_token</a:t>
            </a:r>
          </a:p>
        </p:txBody>
      </p:sp>
      <p:sp>
        <p:nvSpPr>
          <p:cNvPr id="112" name="Shape 112"/>
          <p:cNvSpPr/>
          <p:nvPr/>
        </p:nvSpPr>
        <p:spPr>
          <a:xfrm>
            <a:off x="4800600" y="4676775"/>
            <a:ext cx="171450" cy="17145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13" name="Text 113"/>
          <p:cNvSpPr txBox="1"/>
          <p:nvPr/>
        </p:nvSpPr>
        <p:spPr>
          <a:xfrm>
            <a:off x="4800600" y="4705350"/>
            <a:ext cx="171450" cy="1143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086350" y="4629150"/>
            <a:ext cx="23431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003E9B"/>
                </a:solidFill>
                <a:latin typeface="Aptos"/>
              </a:rPr>
              <a:t>Cookie bridge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086350" y="4810125"/>
            <a:ext cx="23241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5F6B7A"/>
                </a:solidFill>
                <a:latin typeface="Aptos"/>
              </a:rPr>
              <a:t>JwtCookieMiddleware creates Bearer header</a:t>
            </a:r>
          </a:p>
        </p:txBody>
      </p:sp>
      <p:sp>
        <p:nvSpPr>
          <p:cNvPr id="116" name="Shape 116"/>
          <p:cNvSpPr/>
          <p:nvPr/>
        </p:nvSpPr>
        <p:spPr>
          <a:xfrm>
            <a:off x="7867650" y="3752850"/>
            <a:ext cx="590550" cy="19050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117" name="Text 117"/>
          <p:cNvSpPr txBox="1"/>
          <p:nvPr/>
        </p:nvSpPr>
        <p:spPr>
          <a:xfrm>
            <a:off x="8382000" y="365760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800" b="1">
                <a:solidFill>
                  <a:srgbClr val="003E9B"/>
                </a:solidFill>
                <a:latin typeface="Aptos"/>
              </a:rPr>
              <a:t>&gt;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7753350" y="3867150"/>
            <a:ext cx="8763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00">
                <a:solidFill>
                  <a:srgbClr val="5F6B7A"/>
                </a:solidFill>
                <a:latin typeface="Aptos"/>
              </a:rPr>
              <a:t>Bearer token</a:t>
            </a:r>
          </a:p>
        </p:txBody>
      </p:sp>
      <p:sp>
        <p:nvSpPr>
          <p:cNvPr id="119" name="Shape 119"/>
          <p:cNvSpPr/>
          <p:nvPr/>
        </p:nvSpPr>
        <p:spPr>
          <a:xfrm>
            <a:off x="8515350" y="2400300"/>
            <a:ext cx="3048000" cy="2952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</p:spPr>
      </p:sp>
      <p:sp>
        <p:nvSpPr>
          <p:cNvPr id="120" name="Shape 120"/>
          <p:cNvSpPr/>
          <p:nvPr/>
        </p:nvSpPr>
        <p:spPr>
          <a:xfrm>
            <a:off x="8515350" y="2400300"/>
            <a:ext cx="3048000" cy="85725"/>
          </a:xfrm>
          <a:prstGeom prst="rect">
            <a:avLst/>
          </a:prstGeom>
          <a:solidFill>
            <a:srgbClr val="002D73"/>
          </a:solidFill>
          <a:ln w="0">
            <a:noFill/>
          </a:ln>
        </p:spPr>
      </p:sp>
      <p:sp>
        <p:nvSpPr>
          <p:cNvPr id="121" name="Text 121"/>
          <p:cNvSpPr txBox="1"/>
          <p:nvPr/>
        </p:nvSpPr>
        <p:spPr>
          <a:xfrm>
            <a:off x="8724900" y="2647950"/>
            <a:ext cx="26289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300" b="1">
                <a:solidFill>
                  <a:srgbClr val="002D73"/>
                </a:solidFill>
                <a:latin typeface="Aptos"/>
              </a:rPr>
              <a:t>BACKEND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8724900" y="2952750"/>
            <a:ext cx="26289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900" b="1">
                <a:solidFill>
                  <a:srgbClr val="111827"/>
                </a:solidFill>
                <a:latin typeface="Aptos Display"/>
              </a:rPr>
              <a:t>Laravel verifies identity and gates protected resources.</a:t>
            </a:r>
          </a:p>
        </p:txBody>
      </p:sp>
      <p:sp>
        <p:nvSpPr>
          <p:cNvPr id="123" name="Shape 123"/>
          <p:cNvSpPr/>
          <p:nvPr/>
        </p:nvSpPr>
        <p:spPr>
          <a:xfrm>
            <a:off x="8724900" y="3648075"/>
            <a:ext cx="171450" cy="171450"/>
          </a:xfrm>
          <a:prstGeom prst="ellipse">
            <a:avLst/>
          </a:prstGeom>
          <a:solidFill>
            <a:srgbClr val="002D73"/>
          </a:solidFill>
          <a:ln w="0">
            <a:noFill/>
          </a:ln>
        </p:spPr>
      </p:sp>
      <p:sp>
        <p:nvSpPr>
          <p:cNvPr id="124" name="Text 124"/>
          <p:cNvSpPr txBox="1"/>
          <p:nvPr/>
        </p:nvSpPr>
        <p:spPr>
          <a:xfrm>
            <a:off x="8724900" y="3676650"/>
            <a:ext cx="171450" cy="1143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9010650" y="3600450"/>
            <a:ext cx="23431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003E9B"/>
                </a:solidFill>
                <a:latin typeface="Aptos"/>
              </a:rPr>
              <a:t>LoginRequest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9010650" y="3781425"/>
            <a:ext cx="23241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5F6B7A"/>
                </a:solidFill>
                <a:latin typeface="Aptos"/>
              </a:rPr>
              <a:t>validates email and password shape</a:t>
            </a:r>
          </a:p>
        </p:txBody>
      </p:sp>
      <p:sp>
        <p:nvSpPr>
          <p:cNvPr id="127" name="Shape 127"/>
          <p:cNvSpPr/>
          <p:nvPr/>
        </p:nvSpPr>
        <p:spPr>
          <a:xfrm>
            <a:off x="8724900" y="4162425"/>
            <a:ext cx="171450" cy="171450"/>
          </a:xfrm>
          <a:prstGeom prst="ellipse">
            <a:avLst/>
          </a:prstGeom>
          <a:solidFill>
            <a:srgbClr val="002D73"/>
          </a:solidFill>
          <a:ln w="0">
            <a:noFill/>
          </a:ln>
        </p:spPr>
      </p:sp>
      <p:sp>
        <p:nvSpPr>
          <p:cNvPr id="128" name="Text 128"/>
          <p:cNvSpPr txBox="1"/>
          <p:nvPr/>
        </p:nvSpPr>
        <p:spPr>
          <a:xfrm>
            <a:off x="8724900" y="4191000"/>
            <a:ext cx="171450" cy="1143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9010650" y="4114800"/>
            <a:ext cx="23431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003E9B"/>
                </a:solidFill>
                <a:latin typeface="Aptos"/>
              </a:rPr>
              <a:t>Auth guard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9010650" y="4295775"/>
            <a:ext cx="23241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5F6B7A"/>
                </a:solidFill>
                <a:latin typeface="Aptos"/>
              </a:rPr>
              <a:t>jwt guard checks tblusers password hash</a:t>
            </a:r>
          </a:p>
        </p:txBody>
      </p:sp>
      <p:sp>
        <p:nvSpPr>
          <p:cNvPr id="131" name="Shape 131"/>
          <p:cNvSpPr/>
          <p:nvPr/>
        </p:nvSpPr>
        <p:spPr>
          <a:xfrm>
            <a:off x="8724900" y="4676775"/>
            <a:ext cx="171450" cy="171450"/>
          </a:xfrm>
          <a:prstGeom prst="ellipse">
            <a:avLst/>
          </a:prstGeom>
          <a:solidFill>
            <a:srgbClr val="002D73"/>
          </a:solidFill>
          <a:ln w="0">
            <a:noFill/>
          </a:ln>
        </p:spPr>
      </p:sp>
      <p:sp>
        <p:nvSpPr>
          <p:cNvPr id="132" name="Text 132"/>
          <p:cNvSpPr txBox="1"/>
          <p:nvPr/>
        </p:nvSpPr>
        <p:spPr>
          <a:xfrm>
            <a:off x="8724900" y="4705350"/>
            <a:ext cx="171450" cy="1143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9010650" y="4629150"/>
            <a:ext cx="23431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003E9B"/>
                </a:solidFill>
                <a:latin typeface="Aptos"/>
              </a:rPr>
              <a:t>Protected routes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9010650" y="4810125"/>
            <a:ext cx="23241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5F6B7A"/>
                </a:solidFill>
                <a:latin typeface="Aptos"/>
              </a:rPr>
              <a:t>jwt.auth allows users, roles, profile APIs</a:t>
            </a:r>
          </a:p>
        </p:txBody>
      </p:sp>
      <p:sp>
        <p:nvSpPr>
          <p:cNvPr id="135" name="Shape 135"/>
          <p:cNvSpPr/>
          <p:nvPr/>
        </p:nvSpPr>
        <p:spPr>
          <a:xfrm>
            <a:off x="1485900" y="5638800"/>
            <a:ext cx="9220200" cy="9525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</p:sp>
      <p:sp>
        <p:nvSpPr>
          <p:cNvPr id="136" name="Text 136"/>
          <p:cNvSpPr txBox="1"/>
          <p:nvPr/>
        </p:nvSpPr>
        <p:spPr>
          <a:xfrm>
            <a:off x="1619250" y="588645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003E9B"/>
                </a:solidFill>
                <a:latin typeface="Aptos"/>
              </a:rPr>
              <a:t>Presenting sentence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3124200" y="5829300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ptos"/>
              </a:rPr>
              <a:t>The browser holds the login state as a secure cookie, while Laravel treats every protected request as a JWT Bearer-token request after middleware translation.</a:t>
            </a:r>
          </a:p>
        </p:txBody>
      </p:sp>
      <p:sp>
        <p:nvSpPr>
          <p:cNvPr id="138" name="Shape 138"/>
          <p:cNvSpPr/>
          <p:nvPr/>
        </p:nvSpPr>
        <p:spPr>
          <a:xfrm>
            <a:off x="0" y="6610350"/>
            <a:ext cx="12192000" cy="57150"/>
          </a:xfrm>
          <a:prstGeom prst="rect">
            <a:avLst/>
          </a:prstGeom>
          <a:solidFill>
            <a:srgbClr val="E7E9ED"/>
          </a:solidFill>
          <a:ln w="0">
            <a:noFill/>
          </a:ln>
        </p:spPr>
      </p:sp>
      <p:pic>
        <p:nvPicPr>
          <p:cNvPr id="139" name="System logo" descr="Strategic Planning Management Syste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6096000"/>
            <a:ext cx="419100" cy="419100"/>
          </a:xfrm>
          <a:prstGeom prst="rect">
            <a:avLst/>
          </a:prstGeom>
        </p:spPr>
      </p:pic>
      <p:sp>
        <p:nvSpPr>
          <p:cNvPr id="140" name="Text 140"/>
          <p:cNvSpPr txBox="1"/>
          <p:nvPr/>
        </p:nvSpPr>
        <p:spPr>
          <a:xfrm>
            <a:off x="781050" y="61626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00" b="1">
                <a:solidFill>
                  <a:srgbClr val="111827"/>
                </a:solidFill>
                <a:latin typeface="Aptos"/>
              </a:rPr>
              <a:t>Strategic Planning Management System</a:t>
            </a:r>
          </a:p>
          <a:p>
            <a:pPr algn="l"/>
            <a:r>
              <a:rPr lang="en-US" sz="900" b="1">
                <a:solidFill>
                  <a:srgbClr val="111827"/>
                </a:solidFill>
                <a:latin typeface="Aptos"/>
              </a:rPr>
              <a:t>Authentication flow overview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8667750" y="6200775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n-US" sz="1300" b="1">
                <a:solidFill>
                  <a:srgbClr val="003E9B"/>
                </a:solidFill>
                <a:latin typeface="Aptos"/>
              </a:rPr>
              <a:t>Two-slide workflow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er Authentication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03E9B"/>
      </a:accent1>
      <a:accent2>
        <a:srgbClr val="27BFEF"/>
      </a:accent2>
      <a:accent3>
        <a:srgbClr val="002D73"/>
      </a:accent3>
      <a:accent4>
        <a:srgbClr val="5F6B7A"/>
      </a:accent4>
      <a:accent5>
        <a:srgbClr val="BFEFFF"/>
      </a:accent5>
      <a:accent6>
        <a:srgbClr val="F4FAFE"/>
      </a:accent6>
      <a:hlink>
        <a:srgbClr val="003E9B"/>
      </a:hlink>
      <a:folHlink>
        <a:srgbClr val="002D73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</PresentationFormat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Authentication Workflow</dc:title>
  <dc:creator>Codex</dc:creator>
  <dcterms:created xsi:type="dcterms:W3CDTF">2026-05-26T00:00:00Z</dcterms:created>
</cp:coreProperties>
</file>