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71475"/>
          </a:xfrm>
          <a:prstGeom prst="rect">
            <a:avLst/>
          </a:prstGeom>
          <a:solidFill>
            <a:srgbClr val="003E9B"/>
          </a:solidFill>
          <a:ln w="0">
            <a:noFill/>
          </a:ln>
        </p:spPr>
      </p:sp>
      <p:sp>
        <p:nvSpPr>
          <p:cNvPr id="5" name="Shape 5"/>
          <p:cNvSpPr/>
          <p:nvPr/>
        </p:nvSpPr>
        <p:spPr>
          <a:xfrm>
            <a:off x="0" y="485775"/>
            <a:ext cx="12192000" cy="28575"/>
          </a:xfrm>
          <a:prstGeom prst="rect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0191750" y="11430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200" b="1">
                <a:solidFill>
                  <a:srgbClr val="FFFFFF"/>
                </a:solidFill>
                <a:latin typeface="Aptos"/>
              </a:rPr>
              <a:t>Joy N12326836</a:t>
            </a:r>
          </a:p>
        </p:txBody>
      </p:sp>
      <p:sp>
        <p:nvSpPr>
          <p:cNvPr id="7" name="Shape 7"/>
          <p:cNvSpPr/>
          <p:nvPr/>
        </p:nvSpPr>
        <p:spPr>
          <a:xfrm>
            <a:off x="8858250" y="6096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8" name="Shape 8"/>
          <p:cNvSpPr/>
          <p:nvPr/>
        </p:nvSpPr>
        <p:spPr>
          <a:xfrm>
            <a:off x="9039225" y="6096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9" name="Shape 9"/>
          <p:cNvSpPr/>
          <p:nvPr/>
        </p:nvSpPr>
        <p:spPr>
          <a:xfrm>
            <a:off x="9220200" y="6096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0" name="Shape 10"/>
          <p:cNvSpPr/>
          <p:nvPr/>
        </p:nvSpPr>
        <p:spPr>
          <a:xfrm>
            <a:off x="9401175" y="6096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1" name="Shape 11"/>
          <p:cNvSpPr/>
          <p:nvPr/>
        </p:nvSpPr>
        <p:spPr>
          <a:xfrm>
            <a:off x="9582150" y="6096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2" name="Shape 12"/>
          <p:cNvSpPr/>
          <p:nvPr/>
        </p:nvSpPr>
        <p:spPr>
          <a:xfrm>
            <a:off x="9763125" y="6096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3" name="Shape 13"/>
          <p:cNvSpPr/>
          <p:nvPr/>
        </p:nvSpPr>
        <p:spPr>
          <a:xfrm>
            <a:off x="9944100" y="6096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4" name="Shape 14"/>
          <p:cNvSpPr/>
          <p:nvPr/>
        </p:nvSpPr>
        <p:spPr>
          <a:xfrm>
            <a:off x="10125075" y="6096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5" name="Shape 15"/>
          <p:cNvSpPr/>
          <p:nvPr/>
        </p:nvSpPr>
        <p:spPr>
          <a:xfrm>
            <a:off x="10306050" y="6096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6" name="Shape 16"/>
          <p:cNvSpPr/>
          <p:nvPr/>
        </p:nvSpPr>
        <p:spPr>
          <a:xfrm>
            <a:off x="10487025" y="6096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7" name="Shape 17"/>
          <p:cNvSpPr/>
          <p:nvPr/>
        </p:nvSpPr>
        <p:spPr>
          <a:xfrm>
            <a:off x="10668000" y="6096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8" name="Shape 18"/>
          <p:cNvSpPr/>
          <p:nvPr/>
        </p:nvSpPr>
        <p:spPr>
          <a:xfrm>
            <a:off x="108489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19" name="Shape 19"/>
          <p:cNvSpPr/>
          <p:nvPr/>
        </p:nvSpPr>
        <p:spPr>
          <a:xfrm>
            <a:off x="110299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0" name="Shape 20"/>
          <p:cNvSpPr/>
          <p:nvPr/>
        </p:nvSpPr>
        <p:spPr>
          <a:xfrm>
            <a:off x="112109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1" name="Shape 21"/>
          <p:cNvSpPr/>
          <p:nvPr/>
        </p:nvSpPr>
        <p:spPr>
          <a:xfrm>
            <a:off x="1139190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2" name="Shape 22"/>
          <p:cNvSpPr/>
          <p:nvPr/>
        </p:nvSpPr>
        <p:spPr>
          <a:xfrm>
            <a:off x="1157287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3" name="Shape 23"/>
          <p:cNvSpPr/>
          <p:nvPr/>
        </p:nvSpPr>
        <p:spPr>
          <a:xfrm>
            <a:off x="11753850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4" name="Shape 24"/>
          <p:cNvSpPr/>
          <p:nvPr/>
        </p:nvSpPr>
        <p:spPr>
          <a:xfrm>
            <a:off x="11934825" y="6096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5" name="Shape 25"/>
          <p:cNvSpPr/>
          <p:nvPr/>
        </p:nvSpPr>
        <p:spPr>
          <a:xfrm>
            <a:off x="8858250" y="8191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6" name="Shape 26"/>
          <p:cNvSpPr/>
          <p:nvPr/>
        </p:nvSpPr>
        <p:spPr>
          <a:xfrm>
            <a:off x="9039225" y="8191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7" name="Shape 27"/>
          <p:cNvSpPr/>
          <p:nvPr/>
        </p:nvSpPr>
        <p:spPr>
          <a:xfrm>
            <a:off x="9220200" y="8191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8" name="Shape 28"/>
          <p:cNvSpPr/>
          <p:nvPr/>
        </p:nvSpPr>
        <p:spPr>
          <a:xfrm>
            <a:off x="9401175" y="8191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29" name="Shape 29"/>
          <p:cNvSpPr/>
          <p:nvPr/>
        </p:nvSpPr>
        <p:spPr>
          <a:xfrm>
            <a:off x="9582150" y="8191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0" name="Shape 30"/>
          <p:cNvSpPr/>
          <p:nvPr/>
        </p:nvSpPr>
        <p:spPr>
          <a:xfrm>
            <a:off x="9763125" y="8191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1" name="Shape 31"/>
          <p:cNvSpPr/>
          <p:nvPr/>
        </p:nvSpPr>
        <p:spPr>
          <a:xfrm>
            <a:off x="9944100" y="8191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2" name="Shape 32"/>
          <p:cNvSpPr/>
          <p:nvPr/>
        </p:nvSpPr>
        <p:spPr>
          <a:xfrm>
            <a:off x="10125075" y="8191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3" name="Shape 33"/>
          <p:cNvSpPr/>
          <p:nvPr/>
        </p:nvSpPr>
        <p:spPr>
          <a:xfrm>
            <a:off x="10306050" y="8191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4" name="Shape 34"/>
          <p:cNvSpPr/>
          <p:nvPr/>
        </p:nvSpPr>
        <p:spPr>
          <a:xfrm>
            <a:off x="10487025" y="8191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5" name="Shape 35"/>
          <p:cNvSpPr/>
          <p:nvPr/>
        </p:nvSpPr>
        <p:spPr>
          <a:xfrm>
            <a:off x="10668000" y="8191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6" name="Shape 36"/>
          <p:cNvSpPr/>
          <p:nvPr/>
        </p:nvSpPr>
        <p:spPr>
          <a:xfrm>
            <a:off x="108489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7" name="Shape 37"/>
          <p:cNvSpPr/>
          <p:nvPr/>
        </p:nvSpPr>
        <p:spPr>
          <a:xfrm>
            <a:off x="110299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8" name="Shape 38"/>
          <p:cNvSpPr/>
          <p:nvPr/>
        </p:nvSpPr>
        <p:spPr>
          <a:xfrm>
            <a:off x="112109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39" name="Shape 39"/>
          <p:cNvSpPr/>
          <p:nvPr/>
        </p:nvSpPr>
        <p:spPr>
          <a:xfrm>
            <a:off x="1139190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0" name="Shape 40"/>
          <p:cNvSpPr/>
          <p:nvPr/>
        </p:nvSpPr>
        <p:spPr>
          <a:xfrm>
            <a:off x="1157287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1" name="Shape 41"/>
          <p:cNvSpPr/>
          <p:nvPr/>
        </p:nvSpPr>
        <p:spPr>
          <a:xfrm>
            <a:off x="11753850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2" name="Shape 42"/>
          <p:cNvSpPr/>
          <p:nvPr/>
        </p:nvSpPr>
        <p:spPr>
          <a:xfrm>
            <a:off x="11934825" y="8191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3" name="Shape 43"/>
          <p:cNvSpPr/>
          <p:nvPr/>
        </p:nvSpPr>
        <p:spPr>
          <a:xfrm>
            <a:off x="8858250" y="102870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4" name="Shape 44"/>
          <p:cNvSpPr/>
          <p:nvPr/>
        </p:nvSpPr>
        <p:spPr>
          <a:xfrm>
            <a:off x="9039225" y="102870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5" name="Shape 45"/>
          <p:cNvSpPr/>
          <p:nvPr/>
        </p:nvSpPr>
        <p:spPr>
          <a:xfrm>
            <a:off x="9220200" y="102870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6" name="Shape 46"/>
          <p:cNvSpPr/>
          <p:nvPr/>
        </p:nvSpPr>
        <p:spPr>
          <a:xfrm>
            <a:off x="9401175" y="102870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7" name="Shape 47"/>
          <p:cNvSpPr/>
          <p:nvPr/>
        </p:nvSpPr>
        <p:spPr>
          <a:xfrm>
            <a:off x="9582150" y="102870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8" name="Shape 48"/>
          <p:cNvSpPr/>
          <p:nvPr/>
        </p:nvSpPr>
        <p:spPr>
          <a:xfrm>
            <a:off x="9763125" y="102870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49" name="Shape 49"/>
          <p:cNvSpPr/>
          <p:nvPr/>
        </p:nvSpPr>
        <p:spPr>
          <a:xfrm>
            <a:off x="9944100" y="102870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0" name="Shape 50"/>
          <p:cNvSpPr/>
          <p:nvPr/>
        </p:nvSpPr>
        <p:spPr>
          <a:xfrm>
            <a:off x="10125075" y="102870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1" name="Shape 51"/>
          <p:cNvSpPr/>
          <p:nvPr/>
        </p:nvSpPr>
        <p:spPr>
          <a:xfrm>
            <a:off x="10306050" y="102870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2" name="Shape 52"/>
          <p:cNvSpPr/>
          <p:nvPr/>
        </p:nvSpPr>
        <p:spPr>
          <a:xfrm>
            <a:off x="10487025" y="102870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3" name="Shape 53"/>
          <p:cNvSpPr/>
          <p:nvPr/>
        </p:nvSpPr>
        <p:spPr>
          <a:xfrm>
            <a:off x="10668000" y="102870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4" name="Shape 54"/>
          <p:cNvSpPr/>
          <p:nvPr/>
        </p:nvSpPr>
        <p:spPr>
          <a:xfrm>
            <a:off x="108489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5" name="Shape 55"/>
          <p:cNvSpPr/>
          <p:nvPr/>
        </p:nvSpPr>
        <p:spPr>
          <a:xfrm>
            <a:off x="110299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6" name="Shape 56"/>
          <p:cNvSpPr/>
          <p:nvPr/>
        </p:nvSpPr>
        <p:spPr>
          <a:xfrm>
            <a:off x="112109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7" name="Shape 57"/>
          <p:cNvSpPr/>
          <p:nvPr/>
        </p:nvSpPr>
        <p:spPr>
          <a:xfrm>
            <a:off x="1139190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8" name="Shape 58"/>
          <p:cNvSpPr/>
          <p:nvPr/>
        </p:nvSpPr>
        <p:spPr>
          <a:xfrm>
            <a:off x="1157287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59" name="Shape 59"/>
          <p:cNvSpPr/>
          <p:nvPr/>
        </p:nvSpPr>
        <p:spPr>
          <a:xfrm>
            <a:off x="11753850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0" name="Shape 60"/>
          <p:cNvSpPr/>
          <p:nvPr/>
        </p:nvSpPr>
        <p:spPr>
          <a:xfrm>
            <a:off x="11934825" y="102870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1" name="Shape 61"/>
          <p:cNvSpPr/>
          <p:nvPr/>
        </p:nvSpPr>
        <p:spPr>
          <a:xfrm>
            <a:off x="8858250" y="1238250"/>
            <a:ext cx="38100" cy="3810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2" name="Shape 62"/>
          <p:cNvSpPr/>
          <p:nvPr/>
        </p:nvSpPr>
        <p:spPr>
          <a:xfrm>
            <a:off x="9039225" y="1238250"/>
            <a:ext cx="43338" cy="4333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3" name="Shape 63"/>
          <p:cNvSpPr/>
          <p:nvPr/>
        </p:nvSpPr>
        <p:spPr>
          <a:xfrm>
            <a:off x="9220200" y="1238250"/>
            <a:ext cx="48577" cy="4857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4" name="Shape 64"/>
          <p:cNvSpPr/>
          <p:nvPr/>
        </p:nvSpPr>
        <p:spPr>
          <a:xfrm>
            <a:off x="9401175" y="1238250"/>
            <a:ext cx="53816" cy="5381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5" name="Shape 65"/>
          <p:cNvSpPr/>
          <p:nvPr/>
        </p:nvSpPr>
        <p:spPr>
          <a:xfrm>
            <a:off x="9582150" y="1238250"/>
            <a:ext cx="59055" cy="59055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6" name="Shape 66"/>
          <p:cNvSpPr/>
          <p:nvPr/>
        </p:nvSpPr>
        <p:spPr>
          <a:xfrm>
            <a:off x="9763125" y="1238250"/>
            <a:ext cx="64293" cy="64293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7" name="Shape 67"/>
          <p:cNvSpPr/>
          <p:nvPr/>
        </p:nvSpPr>
        <p:spPr>
          <a:xfrm>
            <a:off x="9944100" y="1238250"/>
            <a:ext cx="69532" cy="69532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8" name="Shape 68"/>
          <p:cNvSpPr/>
          <p:nvPr/>
        </p:nvSpPr>
        <p:spPr>
          <a:xfrm>
            <a:off x="10125075" y="1238250"/>
            <a:ext cx="74771" cy="74771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69" name="Shape 69"/>
          <p:cNvSpPr/>
          <p:nvPr/>
        </p:nvSpPr>
        <p:spPr>
          <a:xfrm>
            <a:off x="10306050" y="1238250"/>
            <a:ext cx="80010" cy="80010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0" name="Shape 70"/>
          <p:cNvSpPr/>
          <p:nvPr/>
        </p:nvSpPr>
        <p:spPr>
          <a:xfrm>
            <a:off x="10487025" y="1238250"/>
            <a:ext cx="85248" cy="85248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1" name="Shape 71"/>
          <p:cNvSpPr/>
          <p:nvPr/>
        </p:nvSpPr>
        <p:spPr>
          <a:xfrm>
            <a:off x="10668000" y="1238250"/>
            <a:ext cx="90487" cy="90487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2" name="Shape 72"/>
          <p:cNvSpPr/>
          <p:nvPr/>
        </p:nvSpPr>
        <p:spPr>
          <a:xfrm>
            <a:off x="108489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3" name="Shape 73"/>
          <p:cNvSpPr/>
          <p:nvPr/>
        </p:nvSpPr>
        <p:spPr>
          <a:xfrm>
            <a:off x="110299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4" name="Shape 74"/>
          <p:cNvSpPr/>
          <p:nvPr/>
        </p:nvSpPr>
        <p:spPr>
          <a:xfrm>
            <a:off x="112109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5" name="Shape 75"/>
          <p:cNvSpPr/>
          <p:nvPr/>
        </p:nvSpPr>
        <p:spPr>
          <a:xfrm>
            <a:off x="1139190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6" name="Shape 76"/>
          <p:cNvSpPr/>
          <p:nvPr/>
        </p:nvSpPr>
        <p:spPr>
          <a:xfrm>
            <a:off x="1157287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7" name="Shape 77"/>
          <p:cNvSpPr/>
          <p:nvPr/>
        </p:nvSpPr>
        <p:spPr>
          <a:xfrm>
            <a:off x="11753850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8" name="Shape 78"/>
          <p:cNvSpPr/>
          <p:nvPr/>
        </p:nvSpPr>
        <p:spPr>
          <a:xfrm>
            <a:off x="11934825" y="1238250"/>
            <a:ext cx="95726" cy="95726"/>
          </a:xfrm>
          <a:prstGeom prst="ellipse">
            <a:avLst/>
          </a:prstGeom>
          <a:solidFill>
            <a:srgbClr val="27BFEF"/>
          </a:solidFill>
          <a:ln w="0">
            <a:noFill/>
          </a:ln>
        </p:spPr>
      </p:sp>
      <p:sp>
        <p:nvSpPr>
          <p:cNvPr id="79" name="Text 79"/>
          <p:cNvSpPr txBox="1"/>
          <p:nvPr/>
        </p:nvSpPr>
        <p:spPr>
          <a:xfrm>
            <a:off x="228600" y="742950"/>
            <a:ext cx="495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3300" b="1">
                <a:solidFill>
                  <a:srgbClr val="0F172A"/>
                </a:solidFill>
                <a:latin typeface="Aptos Display"/>
              </a:rPr>
              <a:t>Epic 1: User Authentication,</a:t>
            </a:r>
          </a:p>
          <a:p>
            <a:pPr algn="l"/>
            <a:r>
              <a:rPr lang="en-US" sz="3300" b="1">
                <a:solidFill>
                  <a:srgbClr val="0F172A"/>
                </a:solidFill>
                <a:latin typeface="Aptos Display"/>
              </a:rPr>
              <a:t>Profile, and Access Management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247650" y="1676400"/>
            <a:ext cx="4810125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350">
                <a:solidFill>
                  <a:srgbClr val="4B5A70"/>
                </a:solidFill>
                <a:latin typeface="Aptos"/>
              </a:rPr>
              <a:t>How our implementation satisfies the client's key features through frontend login flow, JWT middleware, and Laravel user/role APIs.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247650" y="23050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2300" b="1">
                <a:solidFill>
                  <a:srgbClr val="2563EB"/>
                </a:solidFill>
                <a:latin typeface="Aptos"/>
              </a:rPr>
              <a:t>Key Features</a:t>
            </a:r>
          </a:p>
        </p:txBody>
      </p:sp>
      <p:sp>
        <p:nvSpPr>
          <p:cNvPr id="82" name="Shape 82"/>
          <p:cNvSpPr/>
          <p:nvPr/>
        </p:nvSpPr>
        <p:spPr>
          <a:xfrm>
            <a:off x="266700" y="2752725"/>
            <a:ext cx="152400" cy="152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83" name="Text 83"/>
          <p:cNvSpPr txBox="1"/>
          <p:nvPr/>
        </p:nvSpPr>
        <p:spPr>
          <a:xfrm>
            <a:off x="266700" y="273367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533400" y="270510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User login &amp; logout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533400" y="287655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React form calls /api/login; logout clears token cookie</a:t>
            </a:r>
          </a:p>
        </p:txBody>
      </p:sp>
      <p:sp>
        <p:nvSpPr>
          <p:cNvPr id="86" name="Shape 86"/>
          <p:cNvSpPr/>
          <p:nvPr/>
        </p:nvSpPr>
        <p:spPr>
          <a:xfrm>
            <a:off x="266700" y="3267075"/>
            <a:ext cx="152400" cy="152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87" name="Text 87"/>
          <p:cNvSpPr txBox="1"/>
          <p:nvPr/>
        </p:nvSpPr>
        <p:spPr>
          <a:xfrm>
            <a:off x="266700" y="324802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8" name="Text 88"/>
          <p:cNvSpPr txBox="1"/>
          <p:nvPr/>
        </p:nvSpPr>
        <p:spPr>
          <a:xfrm>
            <a:off x="533400" y="32194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Profile management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533400" y="339090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Profile page loads /api/me and updates /api/profile</a:t>
            </a:r>
          </a:p>
        </p:txBody>
      </p:sp>
      <p:sp>
        <p:nvSpPr>
          <p:cNvPr id="90" name="Shape 90"/>
          <p:cNvSpPr/>
          <p:nvPr/>
        </p:nvSpPr>
        <p:spPr>
          <a:xfrm>
            <a:off x="266700" y="3781425"/>
            <a:ext cx="152400" cy="152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266700" y="376237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533400" y="373380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Role assignment (Admin)</a:t>
            </a:r>
          </a:p>
        </p:txBody>
      </p:sp>
      <p:sp>
        <p:nvSpPr>
          <p:cNvPr id="93" name="Text 93"/>
          <p:cNvSpPr txBox="1"/>
          <p:nvPr/>
        </p:nvSpPr>
        <p:spPr>
          <a:xfrm>
            <a:off x="533400" y="390525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User records carry role_id; roles are managed via API</a:t>
            </a:r>
          </a:p>
        </p:txBody>
      </p:sp>
      <p:sp>
        <p:nvSpPr>
          <p:cNvPr id="94" name="Shape 94"/>
          <p:cNvSpPr/>
          <p:nvPr/>
        </p:nvSpPr>
        <p:spPr>
          <a:xfrm>
            <a:off x="2781300" y="2752725"/>
            <a:ext cx="152400" cy="152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95" name="Text 95"/>
          <p:cNvSpPr txBox="1"/>
          <p:nvPr/>
        </p:nvSpPr>
        <p:spPr>
          <a:xfrm>
            <a:off x="2781300" y="273367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3048000" y="270510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Role-based access control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3048000" y="287655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Roles, permissions, and role-permission sync are modeled</a:t>
            </a:r>
          </a:p>
        </p:txBody>
      </p:sp>
      <p:sp>
        <p:nvSpPr>
          <p:cNvPr id="98" name="Shape 98"/>
          <p:cNvSpPr/>
          <p:nvPr/>
        </p:nvSpPr>
        <p:spPr>
          <a:xfrm>
            <a:off x="2781300" y="3267075"/>
            <a:ext cx="152400" cy="152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99" name="Text 99"/>
          <p:cNvSpPr txBox="1"/>
          <p:nvPr/>
        </p:nvSpPr>
        <p:spPr>
          <a:xfrm>
            <a:off x="2781300" y="324802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3048000" y="32194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Login activity monitoring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3048000" y="339090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Log module exists; auth event logging is final hook</a:t>
            </a:r>
          </a:p>
        </p:txBody>
      </p:sp>
      <p:sp>
        <p:nvSpPr>
          <p:cNvPr id="102" name="Shape 102"/>
          <p:cNvSpPr/>
          <p:nvPr/>
        </p:nvSpPr>
        <p:spPr>
          <a:xfrm>
            <a:off x="2781300" y="3781425"/>
            <a:ext cx="152400" cy="152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03" name="Text 103"/>
          <p:cNvSpPr txBox="1"/>
          <p:nvPr/>
        </p:nvSpPr>
        <p:spPr>
          <a:xfrm>
            <a:off x="2781300" y="3762375"/>
            <a:ext cx="152400" cy="1333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3048000" y="373380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250" b="1">
                <a:solidFill>
                  <a:srgbClr val="111827"/>
                </a:solidFill>
                <a:latin typeface="Aptos"/>
              </a:rPr>
              <a:t>Enable / disable users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3048000" y="390525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50">
                <a:solidFill>
                  <a:srgbClr val="4B5A70"/>
                </a:solidFill>
                <a:latin typeface="Aptos"/>
              </a:rPr>
              <a:t>status supports active, inactive, suspended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429250" y="23050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2300" b="1">
                <a:solidFill>
                  <a:srgbClr val="2563EB"/>
                </a:solidFill>
                <a:latin typeface="Aptos"/>
              </a:rPr>
              <a:t>Proposed Solution + Code Evidence</a:t>
            </a:r>
          </a:p>
        </p:txBody>
      </p:sp>
      <p:sp>
        <p:nvSpPr>
          <p:cNvPr id="107" name="Shape 107"/>
          <p:cNvSpPr/>
          <p:nvPr/>
        </p:nvSpPr>
        <p:spPr>
          <a:xfrm>
            <a:off x="5429250" y="2724150"/>
            <a:ext cx="6115050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</p:sp>
      <p:sp>
        <p:nvSpPr>
          <p:cNvPr id="108" name="Shape 108"/>
          <p:cNvSpPr/>
          <p:nvPr/>
        </p:nvSpPr>
        <p:spPr>
          <a:xfrm>
            <a:off x="5429250" y="2724150"/>
            <a:ext cx="57150" cy="523875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5619750" y="281940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 b="1">
                <a:solidFill>
                  <a:srgbClr val="003E9B"/>
                </a:solidFill>
                <a:latin typeface="Aptos"/>
              </a:rPr>
              <a:t>Secure auth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7124700" y="280035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111827"/>
                </a:solidFill>
                <a:latin typeface="Aptos"/>
              </a:rPr>
              <a:t>JWT + HttpOnly cookie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7124700" y="3009900"/>
            <a:ext cx="2857500" cy="152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850">
                <a:solidFill>
                  <a:srgbClr val="4B5A70"/>
                </a:solidFill>
                <a:latin typeface="Aptos"/>
              </a:rPr>
              <a:t>AuthController@login; makeAccessCookie(); config/auth.php api guard = jwt</a:t>
            </a:r>
          </a:p>
        </p:txBody>
      </p:sp>
      <p:sp>
        <p:nvSpPr>
          <p:cNvPr id="112" name="Shape 112"/>
          <p:cNvSpPr/>
          <p:nvPr/>
        </p:nvSpPr>
        <p:spPr>
          <a:xfrm>
            <a:off x="10191750" y="2876550"/>
            <a:ext cx="819150" cy="20955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10191750" y="2924175"/>
            <a:ext cx="819150" cy="1047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750" b="1">
                <a:solidFill>
                  <a:srgbClr val="10B981"/>
                </a:solidFill>
                <a:latin typeface="Aptos"/>
              </a:rPr>
              <a:t>Implemented</a:t>
            </a:r>
          </a:p>
        </p:txBody>
      </p:sp>
      <p:sp>
        <p:nvSpPr>
          <p:cNvPr id="114" name="Shape 114"/>
          <p:cNvSpPr/>
          <p:nvPr/>
        </p:nvSpPr>
        <p:spPr>
          <a:xfrm>
            <a:off x="5429250" y="3352800"/>
            <a:ext cx="6115050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</p:sp>
      <p:sp>
        <p:nvSpPr>
          <p:cNvPr id="115" name="Shape 115"/>
          <p:cNvSpPr/>
          <p:nvPr/>
        </p:nvSpPr>
        <p:spPr>
          <a:xfrm>
            <a:off x="5429250" y="3352800"/>
            <a:ext cx="57150" cy="523875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116" name="Text 116"/>
          <p:cNvSpPr txBox="1"/>
          <p:nvPr/>
        </p:nvSpPr>
        <p:spPr>
          <a:xfrm>
            <a:off x="5619750" y="344805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 b="1">
                <a:solidFill>
                  <a:srgbClr val="003E9B"/>
                </a:solidFill>
                <a:latin typeface="Aptos"/>
              </a:rPr>
              <a:t>Protected APIs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124700" y="34290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111827"/>
                </a:solidFill>
                <a:latin typeface="Aptos"/>
              </a:rPr>
              <a:t>Middleware gated resource routes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7124700" y="3638550"/>
            <a:ext cx="2857500" cy="152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850">
                <a:solidFill>
                  <a:srgbClr val="4B5A70"/>
                </a:solidFill>
                <a:latin typeface="Aptos"/>
              </a:rPr>
              <a:t>routes/api.php jwt.auth group; JwtCookieMiddleware converts cookie to Bearer</a:t>
            </a:r>
          </a:p>
        </p:txBody>
      </p:sp>
      <p:sp>
        <p:nvSpPr>
          <p:cNvPr id="119" name="Shape 119"/>
          <p:cNvSpPr/>
          <p:nvPr/>
        </p:nvSpPr>
        <p:spPr>
          <a:xfrm>
            <a:off x="10191750" y="3505200"/>
            <a:ext cx="819150" cy="20955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10191750" y="3552825"/>
            <a:ext cx="819150" cy="1047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750" b="1">
                <a:solidFill>
                  <a:srgbClr val="10B981"/>
                </a:solidFill>
                <a:latin typeface="Aptos"/>
              </a:rPr>
              <a:t>Implemented</a:t>
            </a:r>
          </a:p>
        </p:txBody>
      </p:sp>
      <p:sp>
        <p:nvSpPr>
          <p:cNvPr id="121" name="Shape 121"/>
          <p:cNvSpPr/>
          <p:nvPr/>
        </p:nvSpPr>
        <p:spPr>
          <a:xfrm>
            <a:off x="5429250" y="3981450"/>
            <a:ext cx="6115050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</p:sp>
      <p:sp>
        <p:nvSpPr>
          <p:cNvPr id="122" name="Shape 122"/>
          <p:cNvSpPr/>
          <p:nvPr/>
        </p:nvSpPr>
        <p:spPr>
          <a:xfrm>
            <a:off x="5429250" y="3981450"/>
            <a:ext cx="57150" cy="523875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5619750" y="407670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 b="1">
                <a:solidFill>
                  <a:srgbClr val="003E9B"/>
                </a:solidFill>
                <a:latin typeface="Aptos"/>
              </a:rPr>
              <a:t>Profile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24700" y="405765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111827"/>
                </a:solidFill>
                <a:latin typeface="Aptos"/>
              </a:rPr>
              <a:t>Current-user API + update API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7124700" y="4267200"/>
            <a:ext cx="2857500" cy="152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850">
                <a:solidFill>
                  <a:srgbClr val="4B5A70"/>
                </a:solidFill>
                <a:latin typeface="Aptos"/>
              </a:rPr>
              <a:t>AuthController@me and updateProfile; resources/js/profile-app.js</a:t>
            </a:r>
          </a:p>
        </p:txBody>
      </p:sp>
      <p:sp>
        <p:nvSpPr>
          <p:cNvPr id="126" name="Shape 126"/>
          <p:cNvSpPr/>
          <p:nvPr/>
        </p:nvSpPr>
        <p:spPr>
          <a:xfrm>
            <a:off x="10191750" y="4133850"/>
            <a:ext cx="819150" cy="20955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10191750" y="4181475"/>
            <a:ext cx="819150" cy="1047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750" b="1">
                <a:solidFill>
                  <a:srgbClr val="10B981"/>
                </a:solidFill>
                <a:latin typeface="Aptos"/>
              </a:rPr>
              <a:t>Implemented</a:t>
            </a:r>
          </a:p>
        </p:txBody>
      </p:sp>
      <p:sp>
        <p:nvSpPr>
          <p:cNvPr id="128" name="Shape 128"/>
          <p:cNvSpPr/>
          <p:nvPr/>
        </p:nvSpPr>
        <p:spPr>
          <a:xfrm>
            <a:off x="5429250" y="4610100"/>
            <a:ext cx="6115050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</p:sp>
      <p:sp>
        <p:nvSpPr>
          <p:cNvPr id="129" name="Shape 129"/>
          <p:cNvSpPr/>
          <p:nvPr/>
        </p:nvSpPr>
        <p:spPr>
          <a:xfrm>
            <a:off x="5429250" y="4610100"/>
            <a:ext cx="57150" cy="523875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30" name="Text 130"/>
          <p:cNvSpPr txBox="1"/>
          <p:nvPr/>
        </p:nvSpPr>
        <p:spPr>
          <a:xfrm>
            <a:off x="5619750" y="470535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 b="1">
                <a:solidFill>
                  <a:srgbClr val="003E9B"/>
                </a:solidFill>
                <a:latin typeface="Aptos"/>
              </a:rPr>
              <a:t>RBAC data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124700" y="46863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111827"/>
                </a:solidFill>
                <a:latin typeface="Aptos"/>
              </a:rPr>
              <a:t>Role + permission model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7124700" y="4895850"/>
            <a:ext cx="2857500" cy="152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850">
                <a:solidFill>
                  <a:srgbClr val="4B5A70"/>
                </a:solidFill>
                <a:latin typeface="Aptos"/>
              </a:rPr>
              <a:t>tblroles, tblpermissions, tblrole_permissions; syncPermissions()</a:t>
            </a:r>
          </a:p>
        </p:txBody>
      </p:sp>
      <p:sp>
        <p:nvSpPr>
          <p:cNvPr id="133" name="Shape 133"/>
          <p:cNvSpPr/>
          <p:nvPr/>
        </p:nvSpPr>
        <p:spPr>
          <a:xfrm>
            <a:off x="10191750" y="4762500"/>
            <a:ext cx="819150" cy="20955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</p:sp>
      <p:sp>
        <p:nvSpPr>
          <p:cNvPr id="134" name="Text 134"/>
          <p:cNvSpPr txBox="1"/>
          <p:nvPr/>
        </p:nvSpPr>
        <p:spPr>
          <a:xfrm>
            <a:off x="10191750" y="4810125"/>
            <a:ext cx="819150" cy="1047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750" b="1">
                <a:solidFill>
                  <a:srgbClr val="F59E0B"/>
                </a:solidFill>
                <a:latin typeface="Aptos"/>
              </a:rPr>
              <a:t>Foundation</a:t>
            </a:r>
          </a:p>
        </p:txBody>
      </p:sp>
      <p:sp>
        <p:nvSpPr>
          <p:cNvPr id="135" name="Shape 135"/>
          <p:cNvSpPr/>
          <p:nvPr/>
        </p:nvSpPr>
        <p:spPr>
          <a:xfrm>
            <a:off x="5429250" y="5238750"/>
            <a:ext cx="6115050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</p:sp>
      <p:sp>
        <p:nvSpPr>
          <p:cNvPr id="136" name="Shape 136"/>
          <p:cNvSpPr/>
          <p:nvPr/>
        </p:nvSpPr>
        <p:spPr>
          <a:xfrm>
            <a:off x="5429250" y="5238750"/>
            <a:ext cx="57150" cy="523875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37" name="Text 137"/>
          <p:cNvSpPr txBox="1"/>
          <p:nvPr/>
        </p:nvSpPr>
        <p:spPr>
          <a:xfrm>
            <a:off x="5619750" y="533400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50" b="1">
                <a:solidFill>
                  <a:srgbClr val="003E9B"/>
                </a:solidFill>
                <a:latin typeface="Aptos"/>
              </a:rPr>
              <a:t>Admin control</a:t>
            </a:r>
          </a:p>
        </p:txBody>
      </p:sp>
      <p:sp>
        <p:nvSpPr>
          <p:cNvPr id="138" name="Text 138"/>
          <p:cNvSpPr txBox="1"/>
          <p:nvPr/>
        </p:nvSpPr>
        <p:spPr>
          <a:xfrm>
            <a:off x="7124700" y="531495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111827"/>
                </a:solidFill>
                <a:latin typeface="Aptos"/>
              </a:rPr>
              <a:t>Centralized user table and CRUD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7124700" y="5524500"/>
            <a:ext cx="2857500" cy="15240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850">
                <a:solidFill>
                  <a:srgbClr val="4B5A70"/>
                </a:solidFill>
                <a:latin typeface="Aptos"/>
              </a:rPr>
              <a:t>Route::resource('users'); Store/UpdateUserRequest validates role_id + status</a:t>
            </a:r>
          </a:p>
        </p:txBody>
      </p:sp>
      <p:sp>
        <p:nvSpPr>
          <p:cNvPr id="140" name="Shape 140"/>
          <p:cNvSpPr/>
          <p:nvPr/>
        </p:nvSpPr>
        <p:spPr>
          <a:xfrm>
            <a:off x="10191750" y="5391150"/>
            <a:ext cx="819150" cy="20955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10191750" y="5438775"/>
            <a:ext cx="819150" cy="104775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n-US" sz="750" b="1">
                <a:solidFill>
                  <a:srgbClr val="F59E0B"/>
                </a:solidFill>
                <a:latin typeface="Aptos"/>
              </a:rPr>
              <a:t>Foundation</a:t>
            </a:r>
          </a:p>
        </p:txBody>
      </p:sp>
      <p:sp>
        <p:nvSpPr>
          <p:cNvPr id="142" name="Shape 142"/>
          <p:cNvSpPr/>
          <p:nvPr/>
        </p:nvSpPr>
        <p:spPr>
          <a:xfrm>
            <a:off x="723900" y="5676900"/>
            <a:ext cx="10153650" cy="9525"/>
          </a:xfrm>
          <a:prstGeom prst="rect">
            <a:avLst/>
          </a:prstGeom>
          <a:solidFill>
            <a:srgbClr val="D8DEE8"/>
          </a:solidFill>
          <a:ln w="0">
            <a:noFill/>
          </a:ln>
        </p:spPr>
      </p:sp>
      <p:sp>
        <p:nvSpPr>
          <p:cNvPr id="143" name="Text 143"/>
          <p:cNvSpPr txBox="1"/>
          <p:nvPr/>
        </p:nvSpPr>
        <p:spPr>
          <a:xfrm>
            <a:off x="819150" y="5924550"/>
            <a:ext cx="1466850" cy="1714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000" b="1">
                <a:solidFill>
                  <a:srgbClr val="003E9B"/>
                </a:solidFill>
                <a:latin typeface="Aptos"/>
              </a:rPr>
              <a:t>Presentation takeaway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2343150" y="58674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ptos"/>
              </a:rPr>
              <a:t>The core authentication path is implemented; RBAC, monitoring, and account-status controls have database/API foundations and need final enforcement hooks for production hardening.</a:t>
            </a:r>
          </a:p>
        </p:txBody>
      </p:sp>
      <p:sp>
        <p:nvSpPr>
          <p:cNvPr id="145" name="Shape 145"/>
          <p:cNvSpPr/>
          <p:nvPr/>
        </p:nvSpPr>
        <p:spPr>
          <a:xfrm>
            <a:off x="0" y="6610350"/>
            <a:ext cx="12192000" cy="57150"/>
          </a:xfrm>
          <a:prstGeom prst="rect">
            <a:avLst/>
          </a:prstGeom>
          <a:solidFill>
            <a:srgbClr val="E7E9ED"/>
          </a:solidFill>
          <a:ln w="0">
            <a:noFill/>
          </a:ln>
        </p:spPr>
      </p:sp>
      <p:pic>
        <p:nvPicPr>
          <p:cNvPr id="146" name="System logo" descr="Strategic Planning Management Syst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096000"/>
            <a:ext cx="419100" cy="419100"/>
          </a:xfrm>
          <a:prstGeom prst="rect">
            <a:avLst/>
          </a:prstGeom>
        </p:spPr>
      </p:pic>
      <p:sp>
        <p:nvSpPr>
          <p:cNvPr id="147" name="Text 147"/>
          <p:cNvSpPr txBox="1"/>
          <p:nvPr/>
        </p:nvSpPr>
        <p:spPr>
          <a:xfrm>
            <a:off x="762000" y="61626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Strategic Planning Management System</a:t>
            </a:r>
          </a:p>
          <a:p>
            <a:pPr algn="l"/>
            <a:r>
              <a:rPr lang="en-US" sz="900" b="1">
                <a:solidFill>
                  <a:srgbClr val="111827"/>
                </a:solidFill>
                <a:latin typeface="Aptos"/>
              </a:rPr>
              <a:t>Epic 1: User Authentication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667750" y="62007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n-US" sz="1250" b="1">
                <a:solidFill>
                  <a:srgbClr val="003E9B"/>
                </a:solidFill>
                <a:latin typeface="Aptos"/>
              </a:rPr>
              <a:t>Requirement coverage with code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h Compliance">
  <a:themeElements>
    <a:clrScheme name="Office">
      <a:dk1>
        <a:srgbClr val="000000"/>
      </a:dk1>
      <a:lt1>
        <a:srgbClr val="FFFFFF"/>
      </a:lt1>
      <a:dk2>
        <a:srgbClr val="111827"/>
      </a:dk2>
      <a:lt2>
        <a:srgbClr val="F8FAFC"/>
      </a:lt2>
      <a:accent1>
        <a:srgbClr val="003E9B"/>
      </a:accent1>
      <a:accent2>
        <a:srgbClr val="27BFEF"/>
      </a:accent2>
      <a:accent3>
        <a:srgbClr val="10B981"/>
      </a:accent3>
      <a:accent4>
        <a:srgbClr val="F59E0B"/>
      </a:accent4>
      <a:accent5>
        <a:srgbClr val="2563EB"/>
      </a:accent5>
      <a:accent6>
        <a:srgbClr val="4B5A70"/>
      </a:accent6>
      <a:hlink>
        <a:srgbClr val="003E9B"/>
      </a:hlink>
      <a:folHlink>
        <a:srgbClr val="002D73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User Authentication Compliance</dc:title>
  <dc:creator>Codex</dc:creator>
  <dcterms:created xsi:type="dcterms:W3CDTF">2026-05-26T00:00:00Z</dcterms:created>
</cp:coreProperties>
</file>